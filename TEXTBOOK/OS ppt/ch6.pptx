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1"/>
  </p:notesMasterIdLst>
  <p:handoutMasterIdLst>
    <p:handoutMasterId r:id="rId62"/>
  </p:handoutMasterIdLst>
  <p:sldIdLst>
    <p:sldId id="331" r:id="rId2"/>
    <p:sldId id="332" r:id="rId3"/>
    <p:sldId id="333" r:id="rId4"/>
    <p:sldId id="420" r:id="rId5"/>
    <p:sldId id="424" r:id="rId6"/>
    <p:sldId id="338" r:id="rId7"/>
    <p:sldId id="339" r:id="rId8"/>
    <p:sldId id="480" r:id="rId9"/>
    <p:sldId id="446" r:id="rId10"/>
    <p:sldId id="453" r:id="rId11"/>
    <p:sldId id="459" r:id="rId12"/>
    <p:sldId id="460" r:id="rId13"/>
    <p:sldId id="458" r:id="rId14"/>
    <p:sldId id="457" r:id="rId15"/>
    <p:sldId id="407" r:id="rId16"/>
    <p:sldId id="427" r:id="rId17"/>
    <p:sldId id="447" r:id="rId18"/>
    <p:sldId id="429" r:id="rId19"/>
    <p:sldId id="456" r:id="rId20"/>
    <p:sldId id="462" r:id="rId21"/>
    <p:sldId id="463" r:id="rId22"/>
    <p:sldId id="464" r:id="rId23"/>
    <p:sldId id="343" r:id="rId24"/>
    <p:sldId id="433" r:id="rId25"/>
    <p:sldId id="448" r:id="rId26"/>
    <p:sldId id="346" r:id="rId27"/>
    <p:sldId id="449" r:id="rId28"/>
    <p:sldId id="348" r:id="rId29"/>
    <p:sldId id="349" r:id="rId30"/>
    <p:sldId id="434" r:id="rId31"/>
    <p:sldId id="435" r:id="rId32"/>
    <p:sldId id="450" r:id="rId33"/>
    <p:sldId id="432" r:id="rId34"/>
    <p:sldId id="352" r:id="rId35"/>
    <p:sldId id="451" r:id="rId36"/>
    <p:sldId id="472" r:id="rId37"/>
    <p:sldId id="354" r:id="rId38"/>
    <p:sldId id="355" r:id="rId39"/>
    <p:sldId id="452" r:id="rId40"/>
    <p:sldId id="356" r:id="rId41"/>
    <p:sldId id="418" r:id="rId42"/>
    <p:sldId id="369" r:id="rId43"/>
    <p:sldId id="370" r:id="rId44"/>
    <p:sldId id="476" r:id="rId45"/>
    <p:sldId id="371" r:id="rId46"/>
    <p:sldId id="372" r:id="rId47"/>
    <p:sldId id="481" r:id="rId48"/>
    <p:sldId id="377" r:id="rId49"/>
    <p:sldId id="378" r:id="rId50"/>
    <p:sldId id="379" r:id="rId51"/>
    <p:sldId id="380" r:id="rId52"/>
    <p:sldId id="419" r:id="rId53"/>
    <p:sldId id="479" r:id="rId54"/>
    <p:sldId id="381" r:id="rId55"/>
    <p:sldId id="475" r:id="rId56"/>
    <p:sldId id="438" r:id="rId57"/>
    <p:sldId id="437" r:id="rId58"/>
    <p:sldId id="439" r:id="rId59"/>
    <p:sldId id="404" r:id="rId60"/>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94646"/>
  </p:normalViewPr>
  <p:slideViewPr>
    <p:cSldViewPr snapToGrid="0">
      <p:cViewPr varScale="1">
        <p:scale>
          <a:sx n="78" d="100"/>
          <a:sy n="78" d="100"/>
        </p:scale>
        <p:origin x="90" y="6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07T00:05:41.437"/>
    </inkml:context>
    <inkml:brush xml:id="br0">
      <inkml:brushProperty name="width" value="0.05" units="cm"/>
      <inkml:brushProperty name="height" value="0.05" units="cm"/>
      <inkml:brushProperty name="color" value="#FF0066"/>
    </inkml:brush>
  </inkml:definitions>
  <inkml:trace contextRef="#ctx0" brushRef="#br0">1 1 24575,'70'1'0,"103"14"0,-122-11 0,0-2 0,0-2 0,80-10 0,18-1 0,67 15 0,230 33 0,-437-36 0,589 80 0,254 22 0,-357-71 0,-379-21 0,46 2 0,-105-3 0,-50-8 0,0 0 0,0 0 0,0-1 0,1 1 0,-1-2 0,0 1 0,0-1 0,1 0 0,12-3 0,-10-4-1365,-5-3-5461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07T00:05:43.071"/>
    </inkml:context>
    <inkml:brush xml:id="br0">
      <inkml:brushProperty name="width" value="0.05" units="cm"/>
      <inkml:brushProperty name="height" value="0.05" units="cm"/>
      <inkml:brushProperty name="color" value="#FF0066"/>
    </inkml:brush>
  </inkml:definitions>
  <inkml:trace contextRef="#ctx0" brushRef="#br0">17 1 24575,'0'0'0,"0"0"0,-1 0 0,1 0 0,-1 0 0,1-1 0,-1 1 0,1 0 0,-1 0 0,1 0 0,-1 0 0,1 0 0,-1 0 0,1 0 0,-1 0 0,1 0 0,-1 1 0,1-1 0,-1 0 0,1 0 0,-1 0 0,1 0 0,0 1 0,-1-1 0,1 0 0,-1 0 0,1 1 0,0-1 0,-1 0 0,1 1 0,0-1 0,-1 0 0,1 1 0,0-1 0,-1 1 0,1-1 0,0 1 0,0-1 0,0 0 0,-1 1 0,1-1 0,0 1 0,0-1 0,0 1 0,0 0 0,1 0 0,-1 0 0,1 0 0,0 0 0,-1-1 0,1 1 0,0 0 0,0 0 0,0-1 0,0 1 0,0 0 0,0-1 0,0 1 0,0-1 0,0 0 0,0 1 0,0-1 0,0 0 0,0 1 0,3-1 0,77 13 0,953 122 0,-360-122 0,-102-6 0,-64 6 0,-251-9 0,314 22 0,-352-16 0,218 4 0,74-15 0,-476 0 0,-1-3 0,37-8 0,-24 4 0,-5-3 0,-35 8 0,1 1 0,0-1 0,0 2 0,14-2 0,-22 3-24,1 0 0,-1-1 0,0 1 0,0 0 0,0 0 1,1 0-1,-1 0 0,0 0 0,0 0 0,1 0 0,-1 0 0,0 0 0,0 0 0,0 0 0,1 0 0,-1 0 0,0 0 0,0 0 0,0 0 0,1 0 0,-1 1 0,0-1 0,0 0 0,0 0 0,1 0 0,-1 0 1,0 0-1,0 0 0,0 1 0,0-1 0,1 0 0,-1 0 0,0 0 0,0 1 0,0-1 0,0 0 0,0 0 0,0 0 0,0 1 0,1-1 0,-1 0 0,0 0 0,0 0 0,0 1 0,0-1 0,0 0 0,0 0 1,0 1-1,0-1 0,0 0 0,0 0 0,0 0 0,0 1 0,-1-1 0,1 0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07T00:22:21.733"/>
    </inkml:context>
    <inkml:brush xml:id="br0">
      <inkml:brushProperty name="width" value="0.05" units="cm"/>
      <inkml:brushProperty name="height" value="0.05" units="cm"/>
      <inkml:brushProperty name="color" value="#FF0066"/>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1" tx1="lt1" bg2="dk2" tx2="lt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mc:AlternateContent xmlns:mc="http://schemas.openxmlformats.org/markup-compatibility/2006">
        <mc:Choice xmlns:p14="http://schemas.microsoft.com/office/powerpoint/2010/main" Requires="p14">
          <p:contentPart p14:bwMode="auto" r:id="rId3">
            <p14:nvContentPartPr>
              <p14:cNvPr id="2" name="筆跡 1">
                <a:extLst>
                  <a:ext uri="{FF2B5EF4-FFF2-40B4-BE49-F238E27FC236}">
                    <a16:creationId xmlns:a16="http://schemas.microsoft.com/office/drawing/2014/main" id="{FB5B5E25-36C0-6D78-31A6-B7C91C98E0E7}"/>
                  </a:ext>
                </a:extLst>
              </p14:cNvPr>
              <p14:cNvContentPartPr/>
              <p14:nvPr/>
            </p14:nvContentPartPr>
            <p14:xfrm>
              <a:off x="1320447" y="1782189"/>
              <a:ext cx="1342080" cy="109440"/>
            </p14:xfrm>
          </p:contentPart>
        </mc:Choice>
        <mc:Fallback>
          <p:pic>
            <p:nvPicPr>
              <p:cNvPr id="2" name="筆跡 1">
                <a:extLst>
                  <a:ext uri="{FF2B5EF4-FFF2-40B4-BE49-F238E27FC236}">
                    <a16:creationId xmlns:a16="http://schemas.microsoft.com/office/drawing/2014/main" id="{FB5B5E25-36C0-6D78-31A6-B7C91C98E0E7}"/>
                  </a:ext>
                </a:extLst>
              </p:cNvPr>
              <p:cNvPicPr/>
              <p:nvPr/>
            </p:nvPicPr>
            <p:blipFill>
              <a:blip r:embed="rId4"/>
              <a:stretch>
                <a:fillRect/>
              </a:stretch>
            </p:blipFill>
            <p:spPr>
              <a:xfrm>
                <a:off x="1311807" y="1773549"/>
                <a:ext cx="13597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筆跡 2">
                <a:extLst>
                  <a:ext uri="{FF2B5EF4-FFF2-40B4-BE49-F238E27FC236}">
                    <a16:creationId xmlns:a16="http://schemas.microsoft.com/office/drawing/2014/main" id="{B945B9C0-039E-E28B-8500-6A977734AF56}"/>
                  </a:ext>
                </a:extLst>
              </p14:cNvPr>
              <p14:cNvContentPartPr/>
              <p14:nvPr/>
            </p14:nvContentPartPr>
            <p14:xfrm>
              <a:off x="2709327" y="1385109"/>
              <a:ext cx="1863360" cy="93240"/>
            </p14:xfrm>
          </p:contentPart>
        </mc:Choice>
        <mc:Fallback>
          <p:pic>
            <p:nvPicPr>
              <p:cNvPr id="3" name="筆跡 2">
                <a:extLst>
                  <a:ext uri="{FF2B5EF4-FFF2-40B4-BE49-F238E27FC236}">
                    <a16:creationId xmlns:a16="http://schemas.microsoft.com/office/drawing/2014/main" id="{B945B9C0-039E-E28B-8500-6A977734AF56}"/>
                  </a:ext>
                </a:extLst>
              </p:cNvPr>
              <p:cNvPicPr/>
              <p:nvPr/>
            </p:nvPicPr>
            <p:blipFill>
              <a:blip r:embed="rId6"/>
              <a:stretch>
                <a:fillRect/>
              </a:stretch>
            </p:blipFill>
            <p:spPr>
              <a:xfrm>
                <a:off x="2700687" y="1376109"/>
                <a:ext cx="1881000" cy="11088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mc:AlternateContent xmlns:mc="http://schemas.openxmlformats.org/markup-compatibility/2006">
        <mc:Choice xmlns:p14="http://schemas.microsoft.com/office/powerpoint/2010/main" Requires="p14">
          <p:contentPart p14:bwMode="auto" r:id="rId2">
            <p14:nvContentPartPr>
              <p14:cNvPr id="2" name="筆跡 1">
                <a:extLst>
                  <a:ext uri="{FF2B5EF4-FFF2-40B4-BE49-F238E27FC236}">
                    <a16:creationId xmlns:a16="http://schemas.microsoft.com/office/drawing/2014/main" id="{A81802E9-098C-A9FF-48B8-A904ED0CEBCB}"/>
                  </a:ext>
                </a:extLst>
              </p14:cNvPr>
              <p14:cNvContentPartPr/>
              <p14:nvPr/>
            </p14:nvContentPartPr>
            <p14:xfrm>
              <a:off x="-1394673" y="3934629"/>
              <a:ext cx="360" cy="360"/>
            </p14:xfrm>
          </p:contentPart>
        </mc:Choice>
        <mc:Fallback>
          <p:pic>
            <p:nvPicPr>
              <p:cNvPr id="2" name="筆跡 1">
                <a:extLst>
                  <a:ext uri="{FF2B5EF4-FFF2-40B4-BE49-F238E27FC236}">
                    <a16:creationId xmlns:a16="http://schemas.microsoft.com/office/drawing/2014/main" id="{A81802E9-098C-A9FF-48B8-A904ED0CEBCB}"/>
                  </a:ext>
                </a:extLst>
              </p:cNvPr>
              <p:cNvPicPr/>
              <p:nvPr/>
            </p:nvPicPr>
            <p:blipFill>
              <a:blip r:embed="rId3"/>
              <a:stretch>
                <a:fillRect/>
              </a:stretch>
            </p:blipFill>
            <p:spPr>
              <a:xfrm>
                <a:off x="-1403673" y="3925629"/>
                <a:ext cx="18000" cy="180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236768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t>For single-threaded this is ok as the result will always be the same.</a:t>
            </a:r>
          </a:p>
          <a:p>
            <a:r>
              <a:rPr lang="en-US" altLang="en-US" dirty="0"/>
              <a:t>For multithreaded the reordering may produce inconsistent or unexpected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p>
          <a:p>
            <a:r>
              <a:rPr lang="en-US" altLang="en-US" dirty="0"/>
              <a:t>Memory models may be either:</a:t>
            </a:r>
          </a:p>
          <a:p>
            <a:pPr lvl="1"/>
            <a:r>
              <a:rPr lang="en-US" altLang="en-US" b="1" dirty="0"/>
              <a:t>Strongly ordered </a:t>
            </a:r>
            <a:r>
              <a:rPr lang="en-US" altLang="en-US" dirty="0"/>
              <a:t>– where a memory modification of one processor is immediately visible to all other processors.</a:t>
            </a:r>
          </a:p>
          <a:p>
            <a:pPr lvl="1"/>
            <a:r>
              <a:rPr lang="en-US" altLang="en-US" b="1" dirty="0"/>
              <a:t>Weakly ordered  </a:t>
            </a:r>
            <a:r>
              <a:rPr lang="en-US" altLang="en-US" dirty="0"/>
              <a:t>– where a memory modification of one processor may not be immediately visible to all other processors.</a:t>
            </a: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dirty="0"/>
              <a:t>When a memory barrier instruction is performed, the system ensures that all loads and stores are completed before any subsequent load or store operations are performed.</a:t>
            </a:r>
          </a:p>
          <a:p>
            <a:r>
              <a:rPr lang="en-US" altLang="en-US" dirty="0"/>
              <a:t>Therefore, even if instructions were reordered, the memory barrier ensures that the store operations are completed in memory and visible to other processors before future load or store operations are performed.</a:t>
            </a:r>
          </a:p>
          <a:p>
            <a:endParaRPr lang="en-US" altLang="en-US" dirty="0"/>
          </a:p>
        </p:txBody>
      </p:sp>
    </p:spTree>
    <p:extLst>
      <p:ext uri="{BB962C8B-B14F-4D97-AF65-F5344CB8AC3E}">
        <p14:creationId xmlns:p14="http://schemas.microsoft.com/office/powerpoint/2010/main" val="1006609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Font typeface="Monotype Sorts" pitchFamily="-84" charset="2"/>
              <a:buNone/>
            </a:pPr>
            <a:r>
              <a:rPr lang="en-US" altLang="en-US" sz="1400" b="1" dirty="0">
                <a:latin typeface="Courier New" panose="02070309020205020404" pitchFamily="49" charset="0"/>
              </a:rPr>
              <a:t>   /* critical section */ </a:t>
            </a: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p>
          <a:p>
            <a:pPr marL="0" indent="0">
              <a:buFont typeface="Monotype Sorts" pitchFamily="-84" charset="2"/>
              <a:buNone/>
            </a:pPr>
            <a:r>
              <a:rPr lang="en-US" altLang="en-US" sz="1400" b="1" dirty="0">
                <a:latin typeface="Courier New" panose="02070309020205020404" pitchFamily="49" charset="0"/>
              </a:rPr>
              <a:t>      j = (j + 1) % n; </a:t>
            </a: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lock = 0; </a:t>
            </a:r>
          </a:p>
          <a:p>
            <a:pPr marL="0" indent="0">
              <a:buFont typeface="Monotype Sorts" pitchFamily="-84" charset="2"/>
              <a:buNone/>
            </a:pPr>
            <a:r>
              <a:rPr lang="en-US" altLang="en-US" sz="1400" b="1" dirty="0">
                <a:latin typeface="Courier New" panose="02070309020205020404" pitchFamily="49" charset="0"/>
              </a:rPr>
              <a:t>   else </a:t>
            </a:r>
          </a:p>
          <a:p>
            <a:pPr marL="0" indent="0">
              <a:buFont typeface="Monotype Sorts" pitchFamily="-84" charset="2"/>
              <a:buNone/>
            </a:pPr>
            <a:r>
              <a:rPr lang="en-US" altLang="en-US" sz="1400" b="1" dirty="0">
                <a:latin typeface="Courier New" panose="02070309020205020404" pitchFamily="49" charset="0"/>
              </a:rPr>
              <a:t>      waiting[j] = false; </a:t>
            </a:r>
          </a:p>
          <a:p>
            <a:pPr marL="0" indent="0">
              <a:buFont typeface="Monotype Sorts" pitchFamily="-84" charset="2"/>
              <a:buNone/>
            </a:pPr>
            <a:r>
              <a:rPr lang="en-US" altLang="en-US" sz="1400" b="1" dirty="0">
                <a:latin typeface="Courier New" panose="02070309020205020404" pitchFamily="49" charset="0"/>
              </a:rPr>
              <a:t>   /* remainder section */ </a:t>
            </a:r>
          </a:p>
          <a:p>
            <a:pPr marL="0" indent="0">
              <a:buFont typeface="Monotype Sorts" pitchFamily="-84" charset="2"/>
              <a:buNone/>
            </a:pPr>
            <a:r>
              <a:rPr lang="en-US" altLang="en-US" sz="1400" b="1" dirty="0">
                <a:latin typeface="Courier New" panose="020703090202050204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r>
              <a:rPr lang="en-US" altLang="en-US" dirty="0"/>
              <a:t>For example:</a:t>
            </a:r>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p>
          <a:p>
            <a:pPr lvl="1"/>
            <a:r>
              <a:rPr lang="en-US" altLang="en-US" dirty="0"/>
              <a:t>The Command:</a:t>
            </a:r>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p>
          <a:p>
            <a:pPr>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pPr>
            <a:r>
              <a:rPr lang="en-US" altLang="en-US" dirty="0"/>
              <a:t>The process with the shortest time is allocated the resource first</a:t>
            </a:r>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dirty="0"/>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16939</TotalTime>
  <Words>3945</Words>
  <Application>Microsoft Office PowerPoint</Application>
  <PresentationFormat>如螢幕大小 (4:3)</PresentationFormat>
  <Paragraphs>578</Paragraphs>
  <Slides>59</Slides>
  <Notes>40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59</vt:i4>
      </vt:variant>
    </vt:vector>
  </HeadingPairs>
  <TitlesOfParts>
    <vt:vector size="69" baseType="lpstr">
      <vt:lpstr>Monotype Sorts</vt:lpstr>
      <vt:lpstr>Arial</vt:lpstr>
      <vt:lpstr>Courier New</vt:lpstr>
      <vt:lpstr>Helvetica</vt:lpstr>
      <vt:lpstr>MT Extra</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簡報</vt:lpstr>
      <vt:lpstr>PowerPoint 簡報</vt:lpstr>
      <vt:lpstr>A Monitor to Allocate Single Resource</vt:lpstr>
      <vt:lpstr>Single Resource Monitor (Cont.)</vt:lpstr>
      <vt:lpstr>Liveness</vt:lpstr>
      <vt:lpstr>Liveness</vt:lpstr>
      <vt:lpstr>Liveness</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simon</cp:lastModifiedBy>
  <cp:revision>365</cp:revision>
  <cp:lastPrinted>2020-11-04T14:30:39Z</cp:lastPrinted>
  <dcterms:created xsi:type="dcterms:W3CDTF">2011-01-13T23:43:38Z</dcterms:created>
  <dcterms:modified xsi:type="dcterms:W3CDTF">2024-06-07T02:47:01Z</dcterms:modified>
</cp:coreProperties>
</file>