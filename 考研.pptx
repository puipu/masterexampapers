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3" r:id="rId5"/>
    <p:sldId id="267" r:id="rId6"/>
    <p:sldId id="265" r:id="rId7"/>
    <p:sldId id="266" r:id="rId8"/>
    <p:sldId id="268" r:id="rId9"/>
    <p:sldId id="269" r:id="rId10"/>
    <p:sldId id="258" r:id="rId11"/>
    <p:sldId id="259" r:id="rId12"/>
    <p:sldId id="260" r:id="rId13"/>
    <p:sldId id="261" r:id="rId14"/>
    <p:sldId id="26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DC5C-3CF0-D793-68AD-561D3886F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7DA73-55EA-1951-FC39-9BF4B660E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3B38-04A7-BFFE-E5AF-4B8EBE771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E0A25-4A11-3223-790D-7CAE076E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2AD04-2EA9-0A46-B1FF-C35108BE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98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73DA-267C-9B61-AB18-08C14D11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91CEB-654B-815A-3CCB-394A69DBB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661EF-6E19-4C25-5000-515A84A5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323BA-223F-7198-7DB1-58BDDCFC1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A9F29-C928-76A7-9013-5DC2E59D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664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305D-49B7-DBC6-ED6E-4AE19C16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4A83-D8D9-30BF-DFDE-1C6E8B9A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EEA4B-A675-0651-6AB0-03701459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73050-A808-BF3B-3F6E-9CF54E6C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952A-C9C2-2D21-7B3C-02EFDCD8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48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84CB-1CD1-A991-1EAD-C0463E1D5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0F83-84C3-3011-8501-CFFC9F555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98454-35EA-2B29-F24A-034682C42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8C986-20A5-5756-2C43-9242AD3F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B4865-3D9A-CCB9-34CC-81FD694E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400A5-0BBD-2D64-6C3C-E928F5A8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02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1577-BAB6-BA89-36B9-4C6EC002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53272-14E8-17E3-A493-2C1D48F97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7F7FF-9CC9-0960-7749-DE7BF00EF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A9875-C938-5FA0-2B41-719C2F4499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4DB31-7341-E584-228B-916C9D19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F34CE-CD22-48CC-9F6A-D8652438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6D975-D08D-0ADF-4AC0-734C115D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A2757-EDE5-1254-34A2-38079544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7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8817-37C2-73DE-D06F-4033C695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7CD85-7C5B-CBF7-39DA-04E16CB75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94100-6EA7-E1B4-2F80-30A0BFA3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E4474-D85A-645E-4093-C7380BCB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88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6CD6C-2268-D741-E4C3-8994C57B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2FE239-F860-53E8-5A49-D08A6777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3E121-3997-1AEF-45CF-076893F8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522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4C094-7C90-F18C-3DC3-5ABB6BCE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7AE2E-6BD6-BF64-FDF3-D9B2B1986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19E02-B24E-9081-DAF1-0DEAF7D6A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58EF5-E311-A74E-9E83-D5207F9F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1108D-9E29-3FFD-DF6C-83CF7ECB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535F3-C9D0-942C-DF79-FBCA8E32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52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7C8D-D1A6-4220-BC91-4BD080124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65828-AA2F-F9F1-5F5E-FC694661C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E6BC6-0687-5BD4-6FB7-158A16E14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56DC3-4EC5-837F-5807-3360116E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C7950-CBB0-EC4D-438B-20F06A8A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07CB7-5CDB-34C2-2059-8E8433A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39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627B-53BB-A1FB-283F-73DB0598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A7448-F92E-7B56-79CD-21A956BD9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AE1A1-04A0-7689-6714-DD03D23A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9F8C-A676-1AFF-C0EF-E6BE4C96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696FE-7094-9791-76F9-6DAD142D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02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104D9-F445-58AC-0180-A5A0C1165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32329-D416-5AED-D734-009BA78D0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30A59-88FC-8387-A70A-3A1BC838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14B6F-168A-84A7-B81A-F917CD0F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80C8E-5229-45FE-2751-7E74859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25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149B37-C754-B2DA-444D-060ECDC1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BEF49-2607-4E81-A6E8-FCF008F56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470F4-B544-7195-8A53-B1210F9FC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D38C7-CC33-4A9A-AE74-C01421608BED}" type="datetimeFigureOut">
              <a:rPr lang="zh-TW" altLang="en-US" smtClean="0"/>
              <a:t>2026/1/21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B4A0B-3C7F-65F6-36FA-49BCBFA4A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437F8-B49B-4017-7DF7-B97148DF2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774FC-7A17-4E53-8C04-9495E1D7C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04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BB9BB-D2D4-A23F-ED8D-A61C25AC6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考研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D59CC-426B-1A7F-D9C8-F3F6F69FE1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756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CA335-0AFC-EA0E-C20B-02C9E8EAE267}"/>
              </a:ext>
            </a:extLst>
          </p:cNvPr>
          <p:cNvSpPr txBox="1"/>
          <p:nvPr/>
        </p:nvSpPr>
        <p:spPr>
          <a:xfrm>
            <a:off x="889000" y="702734"/>
            <a:ext cx="15917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LA</a:t>
            </a:r>
            <a:endParaRPr lang="zh-TW" alt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9ABC6C-6F32-262C-38A9-8839DABEBBA9}"/>
                  </a:ext>
                </a:extLst>
              </p:cNvPr>
              <p:cNvSpPr txBox="1"/>
              <p:nvPr/>
            </p:nvSpPr>
            <p:spPr>
              <a:xfrm>
                <a:off x="1079900" y="2183421"/>
                <a:ext cx="92383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TW" altLang="en-US" sz="2400" dirty="0"/>
                  <a:t>解 </a:t>
                </a:r>
                <a:r>
                  <a:rPr lang="en-US" altLang="zh-TW" sz="2400" dirty="0"/>
                  <a:t>system of linear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 dirty="0">
                        <a:latin typeface="Cambria Math" panose="02040503050406030204" pitchFamily="18" charset="0"/>
                      </a:rPr>
                      <m:t>求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x , </a:t>
                </a:r>
                <a14:m>
                  <m:oMath xmlns:m="http://schemas.openxmlformats.org/officeDocument/2006/math"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altLang="zh-TW" sz="2400" dirty="0"/>
                  <a:t>inverse matrix</a:t>
                </a:r>
              </a:p>
              <a:p>
                <a:pPr marL="457200" indent="-457200">
                  <a:buAutoNum type="arabicPeriod"/>
                </a:pPr>
                <a:r>
                  <a:rPr lang="zh-TW" altLang="en-US" sz="2400" dirty="0"/>
                  <a:t>不是所有的 </a:t>
                </a:r>
                <a:r>
                  <a:rPr lang="en-US" altLang="zh-TW" sz="2400" dirty="0"/>
                  <a:t>matrix </a:t>
                </a:r>
                <a:r>
                  <a:rPr lang="zh-TW" altLang="en-US" sz="2400" dirty="0"/>
                  <a:t>都有 </a:t>
                </a:r>
                <a:r>
                  <a:rPr lang="en-US" altLang="zh-TW" sz="2400" dirty="0"/>
                  <a:t>inverse matrix, </a:t>
                </a:r>
                <a:r>
                  <a:rPr lang="zh-TW" altLang="en-US" sz="2400" dirty="0"/>
                  <a:t>那怎麼判斷</a:t>
                </a:r>
                <a:r>
                  <a:rPr lang="en-US" altLang="zh-TW" sz="2400" dirty="0"/>
                  <a:t>, </a:t>
                </a:r>
                <a:r>
                  <a:rPr lang="zh-TW" altLang="en-US" sz="2400" dirty="0"/>
                  <a:t>用 </a:t>
                </a:r>
                <a:r>
                  <a:rPr lang="en-US" altLang="zh-TW" sz="2400" dirty="0"/>
                  <a:t>determine </a:t>
                </a:r>
                <a:r>
                  <a:rPr lang="zh-TW" altLang="en-US" sz="2400" dirty="0"/>
                  <a:t>判斷</a:t>
                </a:r>
                <a:endParaRPr lang="en-US" altLang="zh-TW" sz="2400" dirty="0"/>
              </a:p>
              <a:p>
                <a:pPr marL="914400" lvl="1" indent="-457200">
                  <a:buAutoNum type="arabicPeriod"/>
                </a:pPr>
                <a:r>
                  <a:rPr lang="en-US" altLang="zh-TW" sz="2400" dirty="0"/>
                  <a:t>Consistent (unique or infinite) :  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zh-TW" sz="2400" dirty="0"/>
                  <a:t>In-consistent :</a:t>
                </a:r>
                <a:r>
                  <a:rPr lang="zh-TW" altLang="en-US" sz="2400" dirty="0"/>
                  <a:t> 近似解 </a:t>
                </a:r>
                <a:r>
                  <a:rPr lang="en-US" altLang="zh-TW" sz="2400" dirty="0"/>
                  <a:t>least square problem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9ABC6C-6F32-262C-38A9-8839DABEB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00" y="2183421"/>
                <a:ext cx="9238381" cy="2308324"/>
              </a:xfrm>
              <a:prstGeom prst="rect">
                <a:avLst/>
              </a:prstGeom>
              <a:blipFill>
                <a:blip r:embed="rId2"/>
                <a:stretch>
                  <a:fillRect l="-1055" t="-2375" r="-858" b="-5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5991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1B4CD-14D9-59FA-7243-23B80CED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175AE6-C51D-A9A8-AA13-4C04652E5855}"/>
              </a:ext>
            </a:extLst>
          </p:cNvPr>
          <p:cNvSpPr txBox="1"/>
          <p:nvPr/>
        </p:nvSpPr>
        <p:spPr>
          <a:xfrm>
            <a:off x="888999" y="702734"/>
            <a:ext cx="55214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LA - decomposition</a:t>
            </a:r>
            <a:endParaRPr lang="zh-TW" alt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5AAAB-4FA5-50CA-CB97-AD776D75ACBA}"/>
              </a:ext>
            </a:extLst>
          </p:cNvPr>
          <p:cNvSpPr txBox="1"/>
          <p:nvPr/>
        </p:nvSpPr>
        <p:spPr>
          <a:xfrm>
            <a:off x="1079900" y="2183421"/>
            <a:ext cx="92383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LU factorization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Only using row operation 3, find U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Then find L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QR (Gram-Schmidt process)</a:t>
            </a:r>
          </a:p>
          <a:p>
            <a:pPr marL="914400" lvl="1" indent="-457200">
              <a:buAutoNum type="arabicPeriod"/>
            </a:pPr>
            <a:r>
              <a:rPr lang="en-US" altLang="zh-TW" sz="2400" dirty="0" err="1"/>
              <a:t>fdfd</a:t>
            </a:r>
            <a:endParaRPr lang="en-US" altLang="zh-TW" sz="2400" dirty="0"/>
          </a:p>
          <a:p>
            <a:pPr marL="457200" indent="-457200">
              <a:buAutoNum type="arabicPeriod"/>
            </a:pPr>
            <a:r>
              <a:rPr lang="en-US" altLang="zh-TW" sz="2400" dirty="0"/>
              <a:t>SVD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3166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CB072-5D1F-E826-2976-3FD39419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EE7364-F4C6-D65C-A248-AB052AB09217}"/>
              </a:ext>
            </a:extLst>
          </p:cNvPr>
          <p:cNvSpPr txBox="1"/>
          <p:nvPr/>
        </p:nvSpPr>
        <p:spPr>
          <a:xfrm>
            <a:off x="889000" y="702734"/>
            <a:ext cx="2980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LA – </a:t>
            </a:r>
            <a:r>
              <a:rPr lang="zh-TW" altLang="en-US" sz="4800" dirty="0"/>
              <a:t>特例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D537B7-226C-B680-3C59-A7F07C145C20}"/>
                  </a:ext>
                </a:extLst>
              </p:cNvPr>
              <p:cNvSpPr txBox="1"/>
              <p:nvPr/>
            </p:nvSpPr>
            <p:spPr>
              <a:xfrm>
                <a:off x="1079900" y="2183421"/>
                <a:ext cx="9238381" cy="3783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altLang="zh-TW" sz="2400" dirty="0"/>
                  <a:t>Eigen-value &amp; eigen-vector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zh-TW" sz="2400" dirty="0"/>
                  <a:t>Definition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TW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TW" sz="2400" dirty="0"/>
              </a:p>
              <a:p>
                <a:pPr marL="914400" lvl="1" indent="-457200">
                  <a:buAutoNum type="arabicPeriod"/>
                </a:pPr>
                <a:r>
                  <a:rPr lang="en-US" altLang="zh-TW" sz="2400" dirty="0"/>
                  <a:t>How to find eigen-value &amp; eigen-vector ?</a:t>
                </a:r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nor/>
                          </m:rPr>
                          <a:rPr lang="en-US" altLang="zh-TW" sz="2400" dirty="0" smtClean="0"/>
                          <m:t>find</m:t>
                        </m:r>
                        <m:r>
                          <m:rPr>
                            <m:nor/>
                          </m:rPr>
                          <a:rPr lang="en-US" altLang="zh-TW" sz="24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 smtClean="0"/>
                          <m:t>eigen</m:t>
                        </m:r>
                        <m:r>
                          <m:rPr>
                            <m:nor/>
                          </m:rPr>
                          <a:rPr lang="en-US" altLang="zh-TW" sz="24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 smtClean="0"/>
                          <m:t>value</m:t>
                        </m:r>
                        <m:r>
                          <m:rPr>
                            <m:nor/>
                          </m:rPr>
                          <a:rPr lang="en-US" altLang="zh-TW" sz="2400" dirty="0" smtClean="0"/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using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m:rPr>
                            <m:sty m:val="p"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l-GR" altLang="zh-TW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US" altLang="zh-TW" sz="2400" b="0" i="0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e>
                        </m:d>
                      </m:e>
                    </m:func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400" b="0" dirty="0">
                  <a:ea typeface="Cambria Math" panose="02040503050406030204" pitchFamily="18" charset="0"/>
                </a:endParaRPr>
              </a:p>
              <a:p>
                <a:pPr marL="1371600" lvl="2" indent="-457200">
                  <a:buAutoNum type="arabicPeriod"/>
                </a:pPr>
                <a:r>
                  <a:rPr lang="en-US" altLang="zh-TW" sz="2400" dirty="0"/>
                  <a:t>Find corresponding eigen vector using 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altLang="zh-TW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</m:d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400" dirty="0"/>
              </a:p>
              <a:p>
                <a:pPr marL="914400" lvl="1" indent="-457200">
                  <a:buAutoNum type="arabicPeriod"/>
                </a:pPr>
                <a:r>
                  <a:rPr lang="en-US" altLang="zh-TW" sz="2400" dirty="0" err="1"/>
                  <a:t>Diagonalizalble</a:t>
                </a:r>
                <a:r>
                  <a:rPr lang="en-US" altLang="zh-TW" sz="2400" dirty="0"/>
                  <a:t> </a:t>
                </a:r>
                <a:endParaRPr lang="en-US" altLang="zh-TW" sz="2400" b="0" i="0" dirty="0">
                  <a:latin typeface="Cambria Math" panose="02040503050406030204" pitchFamily="18" charset="0"/>
                </a:endParaRPr>
              </a:p>
              <a:p>
                <a:pPr marL="1371600" lvl="2" indent="-4572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sty m:val="p"/>
                      </m:rPr>
                      <a:rPr lang="en-US" altLang="zh-TW" sz="2400" i="1" dirty="0" smtClean="0">
                        <a:latin typeface="Cambria Math" panose="02040503050406030204" pitchFamily="18" charset="0"/>
                      </a:rPr>
                      <m:t>A</m:t>
                    </m:r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?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matrix</m:t>
                    </m:r>
                    <m:d>
                      <m:dPr>
                        <m:ctrl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span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eigen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vector</m:t>
                        </m:r>
                      </m:e>
                    </m:d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diagonal</m:t>
                    </m:r>
                    <m: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400" b="0" i="0" dirty="0" smtClean="0">
                        <a:latin typeface="Cambria Math" panose="02040503050406030204" pitchFamily="18" charset="0"/>
                      </a:rPr>
                      <m:t>matrix</m:t>
                    </m:r>
                    <m:d>
                      <m:dPr>
                        <m:ctrl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eigen</m:t>
                        </m:r>
                        <m: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2400" b="0" i="0" dirty="0" smtClean="0">
                            <a:latin typeface="Cambria Math" panose="02040503050406030204" pitchFamily="18" charset="0"/>
                          </a:rPr>
                          <m:t>value</m:t>
                        </m:r>
                      </m:e>
                    </m:d>
                  </m:oMath>
                </a14:m>
                <a:endParaRPr lang="en-US" altLang="zh-TW" sz="2400" b="0" dirty="0"/>
              </a:p>
              <a:p>
                <a:pPr marL="457200" indent="-457200">
                  <a:buAutoNum type="arabicPeriod"/>
                </a:pPr>
                <a:r>
                  <a:rPr lang="en-US" altLang="zh-TW" sz="2400" b="0" dirty="0" err="1"/>
                  <a:t>fdfd</a:t>
                </a:r>
                <a:endParaRPr lang="en-US" altLang="zh-TW" sz="2400" b="0" dirty="0"/>
              </a:p>
              <a:p>
                <a:pPr marL="1371600" lvl="2" indent="-457200">
                  <a:buAutoNum type="arabicPeriod"/>
                </a:pPr>
                <a:endParaRPr lang="zh-TW" alt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D537B7-226C-B680-3C59-A7F07C145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900" y="2183421"/>
                <a:ext cx="9238381" cy="3783793"/>
              </a:xfrm>
              <a:prstGeom prst="rect">
                <a:avLst/>
              </a:prstGeom>
              <a:blipFill>
                <a:blip r:embed="rId2"/>
                <a:stretch>
                  <a:fillRect l="-1055" t="-1449" r="-164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826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175C-C9D0-685C-48A1-3DEBBCBCB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030BC-EDDE-A907-62CB-8FFC3BA5AFE9}"/>
              </a:ext>
            </a:extLst>
          </p:cNvPr>
          <p:cNvSpPr txBox="1"/>
          <p:nvPr/>
        </p:nvSpPr>
        <p:spPr>
          <a:xfrm>
            <a:off x="889000" y="702734"/>
            <a:ext cx="3471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DM – </a:t>
            </a:r>
            <a:r>
              <a:rPr lang="zh-TW" altLang="en-US" sz="4800" dirty="0"/>
              <a:t>數論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366EF-9809-91BD-835F-D5AB5250677B}"/>
              </a:ext>
            </a:extLst>
          </p:cNvPr>
          <p:cNvSpPr txBox="1"/>
          <p:nvPr/>
        </p:nvSpPr>
        <p:spPr>
          <a:xfrm>
            <a:off x="889000" y="1595021"/>
            <a:ext cx="92383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Pigeon-hole theorem</a:t>
            </a:r>
          </a:p>
          <a:p>
            <a:pPr marL="457200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914400" lvl="1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b="0" dirty="0"/>
          </a:p>
          <a:p>
            <a:pPr marL="1371600" lvl="2" indent="-457200">
              <a:buAutoNum type="arabicPeriod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3000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D2B2-81C4-65E3-6FD3-5C3DEDF5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0ABB9F-AB3A-ECF6-DC1D-E9488CAB5DD2}"/>
              </a:ext>
            </a:extLst>
          </p:cNvPr>
          <p:cNvSpPr txBox="1"/>
          <p:nvPr/>
        </p:nvSpPr>
        <p:spPr>
          <a:xfrm>
            <a:off x="889000" y="702734"/>
            <a:ext cx="3471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DM - graph</a:t>
            </a:r>
            <a:endParaRPr lang="zh-TW" alt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37B15-46A4-FF51-1AC5-9B3F59F926FC}"/>
              </a:ext>
            </a:extLst>
          </p:cNvPr>
          <p:cNvSpPr txBox="1"/>
          <p:nvPr/>
        </p:nvSpPr>
        <p:spPr>
          <a:xfrm>
            <a:off x="889000" y="1595021"/>
            <a:ext cx="923838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Property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Connectivity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Articulation point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DFS/BFS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MST(Minimum Spanning Tree)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Kruskal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Prim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Solin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Application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Vertex coloring problem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NP-hard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Planar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 </a:t>
            </a:r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914400" lvl="1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b="0" dirty="0"/>
          </a:p>
          <a:p>
            <a:pPr marL="1371600" lvl="2" indent="-457200">
              <a:buAutoNum type="arabicPeriod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902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DD094-3EAE-5FEF-C7F4-E8C4F0C0C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A8720E-E538-AC0E-9FD6-E57B39156214}"/>
              </a:ext>
            </a:extLst>
          </p:cNvPr>
          <p:cNvSpPr txBox="1"/>
          <p:nvPr/>
        </p:nvSpPr>
        <p:spPr>
          <a:xfrm>
            <a:off x="889000" y="702734"/>
            <a:ext cx="3471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DM - tree</a:t>
            </a:r>
            <a:endParaRPr lang="zh-TW" alt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E409D-E406-5BF3-1D1D-984A2B92214E}"/>
              </a:ext>
            </a:extLst>
          </p:cNvPr>
          <p:cNvSpPr txBox="1"/>
          <p:nvPr/>
        </p:nvSpPr>
        <p:spPr>
          <a:xfrm>
            <a:off x="889000" y="1595021"/>
            <a:ext cx="923838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Property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Connectivity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Articulation point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DFS/BFS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MST(Minimum Spanning Tree)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Kruskal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Prim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Solin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Operation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Traversal : (1) pre/in/post-order (2) 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Application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Vertex coloring problem</a:t>
            </a:r>
          </a:p>
          <a:p>
            <a:pPr marL="1371600" lvl="2" indent="-457200">
              <a:buAutoNum type="arabicPeriod"/>
            </a:pPr>
            <a:r>
              <a:rPr lang="en-US" altLang="zh-TW" sz="2400" dirty="0"/>
              <a:t>NP-hard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Planar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 </a:t>
            </a:r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914400" lvl="1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b="0" dirty="0"/>
          </a:p>
          <a:p>
            <a:pPr marL="1371600" lvl="2" indent="-457200">
              <a:buAutoNum type="arabicPeriod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2526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FBE3F-F781-91E4-A82B-B49C7C81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F2076-D7E4-121F-ED08-4A7D15E4E261}"/>
              </a:ext>
            </a:extLst>
          </p:cNvPr>
          <p:cNvSpPr txBox="1"/>
          <p:nvPr/>
        </p:nvSpPr>
        <p:spPr>
          <a:xfrm>
            <a:off x="889000" y="702734"/>
            <a:ext cx="34712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AM - graph</a:t>
            </a:r>
            <a:endParaRPr lang="zh-TW" alt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99FC3-D207-6041-8517-05A640E37618}"/>
              </a:ext>
            </a:extLst>
          </p:cNvPr>
          <p:cNvSpPr txBox="1"/>
          <p:nvPr/>
        </p:nvSpPr>
        <p:spPr>
          <a:xfrm>
            <a:off x="889000" y="1595021"/>
            <a:ext cx="92383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MST(Minimum Spanning Tree)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Shortest Path Problem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Max flow problem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 </a:t>
            </a:r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914400" lvl="1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b="0" dirty="0"/>
          </a:p>
          <a:p>
            <a:pPr marL="1371600" lvl="2" indent="-457200">
              <a:buAutoNum type="arabicPeriod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90224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D0A7C-8E96-38C7-A648-F405B3A9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6F7A4B-11B9-54C7-2A11-AB4043EE36B1}"/>
              </a:ext>
            </a:extLst>
          </p:cNvPr>
          <p:cNvSpPr txBox="1"/>
          <p:nvPr/>
        </p:nvSpPr>
        <p:spPr>
          <a:xfrm>
            <a:off x="889000" y="702734"/>
            <a:ext cx="52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/>
              <a:t>AM – NP hardness</a:t>
            </a:r>
            <a:endParaRPr lang="zh-TW" alt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4D3564-369C-09DA-2124-5BBBA111D6B2}"/>
              </a:ext>
            </a:extLst>
          </p:cNvPr>
          <p:cNvSpPr txBox="1"/>
          <p:nvPr/>
        </p:nvSpPr>
        <p:spPr>
          <a:xfrm>
            <a:off x="889000" y="1595021"/>
            <a:ext cx="92383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TW" sz="2400" dirty="0"/>
              <a:t>reduction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Definition</a:t>
            </a:r>
          </a:p>
          <a:p>
            <a:pPr marL="457200" indent="-457200">
              <a:buAutoNum type="arabicPeriod"/>
            </a:pPr>
            <a:r>
              <a:rPr lang="en-US" altLang="zh-TW" sz="2400" dirty="0"/>
              <a:t>Example</a:t>
            </a:r>
          </a:p>
          <a:p>
            <a:pPr marL="914400" lvl="1" indent="-457200">
              <a:buAutoNum type="arabicPeriod"/>
            </a:pPr>
            <a:r>
              <a:rPr lang="en-US" altLang="zh-TW" sz="2400" dirty="0"/>
              <a:t>TSP(Travel Salesman Problem)</a:t>
            </a:r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914400" lvl="1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dirty="0"/>
          </a:p>
          <a:p>
            <a:pPr marL="1371600" lvl="2" indent="-457200">
              <a:buAutoNum type="arabicPeriod"/>
            </a:pPr>
            <a:endParaRPr lang="en-US" altLang="zh-TW" sz="2400" b="0" dirty="0"/>
          </a:p>
          <a:p>
            <a:pPr marL="1371600" lvl="2" indent="-457200">
              <a:buAutoNum type="arabicPeriod"/>
            </a:pP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9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28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670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469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642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369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2482</TotalTime>
  <Words>239</Words>
  <Application>Microsoft Office PowerPoint</Application>
  <PresentationFormat>Widescreen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考研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6</cp:revision>
  <dcterms:created xsi:type="dcterms:W3CDTF">2026-01-21T09:20:36Z</dcterms:created>
  <dcterms:modified xsi:type="dcterms:W3CDTF">2026-01-23T02:43:26Z</dcterms:modified>
</cp:coreProperties>
</file>