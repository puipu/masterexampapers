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3"/>
  </p:notesMasterIdLst>
  <p:sldIdLst>
    <p:sldId id="256" r:id="rId2"/>
    <p:sldId id="271" r:id="rId3"/>
    <p:sldId id="257" r:id="rId4"/>
    <p:sldId id="264" r:id="rId5"/>
    <p:sldId id="263" r:id="rId6"/>
    <p:sldId id="272" r:id="rId7"/>
    <p:sldId id="267" r:id="rId8"/>
    <p:sldId id="265" r:id="rId9"/>
    <p:sldId id="266" r:id="rId10"/>
    <p:sldId id="274" r:id="rId11"/>
    <p:sldId id="268" r:id="rId12"/>
    <p:sldId id="269" r:id="rId13"/>
    <p:sldId id="270" r:id="rId14"/>
    <p:sldId id="275" r:id="rId15"/>
    <p:sldId id="276" r:id="rId16"/>
    <p:sldId id="273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91" r:id="rId30"/>
    <p:sldId id="289" r:id="rId31"/>
    <p:sldId id="29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1T04:09:32.2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487 7 24575,'0'0'0,"0"-1"0,-1 1 0,1-1 0,-1 1 0,1-1 0,-1 1 0,1-1 0,-1 1 0,0 0 0,1 0 0,-1-1 0,1 1 0,-1 0 0,0 0 0,1-1 0,-1 1 0,1 0 0,-1 0 0,0 0 0,1 0 0,-1 0 0,0 0 0,1 0 0,-1 0 0,0 0 0,1 0 0,-2 1 0,-19 1 0,-14 3 0,24-4 0,0 1 0,0 0 0,1 0 0,-21 8 0,27-9 0,1 1 0,0-1 0,0 1 0,-1 0 0,1 0 0,0 0 0,1 0 0,-1 1 0,0-1 0,1 1 0,-1 0 0,1-1 0,0 1 0,0 0 0,0 0 0,0 1 0,0-1 0,1 0 0,0 1 0,-1-1 0,1 1 0,0-1 0,0 5 0,1-3 0,0-1 0,1 1 0,0 0 0,-1-1 0,1 1 0,1-1 0,-1 1 0,1-1 0,0 0 0,0 0 0,0 0 0,0 0 0,1 0 0,-1 0 0,1 0 0,0-1 0,7 7 0,-5-5 0,1 0 0,-2 1 0,1 0 0,-1 0 0,0 0 0,0 0 0,0 1 0,-1-1 0,0 1 0,-1 0 0,1 0 0,-1 0 0,-1 0 0,2 9 0,-3-10 0,0 0 0,0 0 0,0 0 0,-1 0 0,0 0 0,0 0 0,0 0 0,-1-1 0,0 1 0,0-1 0,0 1 0,-1-1 0,0 0 0,0 1 0,0-2 0,-1 1 0,0 0 0,-4 4 0,-3 2 0,0-1 0,-1 0 0,0-1 0,0 0 0,-1-1 0,0-1 0,-1 0 0,0 0 0,0-2 0,0 1 0,0-2 0,-1 0 0,0-1 0,0 0 0,0-1 0,0-1 0,0 0 0,0-1 0,-1-1 0,1-1 0,0 0 0,-14-4 0,80 31 0,-9-9 0,-20-8 0,-1 0 0,0 1 0,34 21 0,-53-29 0,-1 1 0,1-1 0,0 1 0,-1-1 0,1 1 0,-1 0 0,0-1 0,1 1 0,-1 0 0,0 0 0,0 0 0,0 0 0,-1 0 0,1 0 0,0 0 0,0 4 0,-1-2 0,1 1 0,-1-1 0,0 1 0,-1-1 0,1 0 0,-1 1 0,-2 7 0,-1 1 0,-1 0 0,0 0 0,-2 0 0,-8 13 0,-8 11 0,8-15 0,1 0 0,1 2 0,1-1 0,-13 36 0,23-52 0,0-1 0,1 0 0,0 1 0,0-1 0,0 1 0,1-1 0,-1 1 0,2-1 0,-1 1 0,1-1 0,0 1 0,0-1 0,1 0 0,-1 1 0,2-1 0,-1 0 0,1 0 0,-1 0 0,2-1 0,-1 1 0,1 0 0,-1-1 0,7 6 0,-6-7 0,0 0 0,0 0 0,1-1 0,-1 0 0,1 0 0,0 0 0,-1 0 0,1-1 0,0 1 0,1-1 0,-1-1 0,10 3 0,-2-2 0,1-1 0,-1 0 0,1-1 0,14-1 0,-28 1-65,1 0 0,0 0 0,0 0 0,0 0 0,0 0 0,0-1 0,0 1 0,-1 0 0,1 0 0,0-1 0,0 1 0,0 0 0,0-1 0,-1 1 0,1-1 0,0 1 0,-1-1 0,1 1 0,0-1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1T04:09:44.2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24575,'1'1'0,"1"0"0,-1 0 0,1 0 0,0 0 0,-1 0 0,1-1 0,-1 1 0,1-1 0,0 1 0,-1-1 0,4 0 0,0 1 0,23 7 0,89 21 0,-99-26 0,0 0 0,1-1 0,-1-2 0,28-1 0,-44 1-72,-1 0 1,1-1-1,0 1 0,-1 0 0,1-1 0,-1 0 0,1 1 0,0-1 1,-1 0-1,1 0 0,-1 0 0,0 0 0,1 0 0,-1 0 0,0 0 1,0 0-1,1-1 0,0-1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1T04:09:45.2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0 24575,'-1'1'0,"-1"0"0,0 1 0,0-1 0,1 0 0,-1 0 0,1 1 0,-1-1 0,1 1 0,-2 2 0,-3 2 0,-21 16 0,20-18 0,1 1 0,-1 0 0,1 0 0,0 1 0,0 0 0,1 0 0,0 0 0,0 1 0,-6 10 0,10-15 0,1-1 0,0 1 0,0-1 0,0 1 0,0-1 0,0 1 0,0-1 0,0 0 0,0 1 0,1-1 0,-1 1 0,0-1 0,1 1 0,0-1 0,-1 0 0,1 1 0,1 1 0,18 25 0,-7-9 0,23 56-1365,-33-69-5461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1T04:09:47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24575,'1'0'0,"3"0"0,5 0 0,4 1 0,3 1 0,6 0 0,0 0 0,4 0 0,0 1 0,2-1 0,1 0 0,0 1 0,-3 0 0,-5 0 0,-4-1 0,-3 0 0,-4-1 0,-3-1-8191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31T04:09:48.4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24575,'2'1'0,"1"0"0,0 1 0,-1-1 0,1 1 0,-1 0 0,0-1 0,1 1 0,2 4 0,2 0 0,7 6 0,0 0 0,24 27 0,-34-34 0,0 1 0,0-1 0,0 0 0,-1 1 0,0 0 0,0 0 0,-1 0 0,1 0 0,-1 0 0,-1 1 0,3 12 0,-4-17 0,0-1 0,-1 1 0,1 0 0,0 0 0,-1-1 0,1 1 0,-1 0 0,0-1 0,1 1 0,-1-1 0,0 1 0,0-1 0,0 1 0,0-1 0,0 1 0,-2 1 0,-27 22 0,5-4 0,6-1-1365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E5D595-80C0-4B28-BA03-ED45ADACC533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1C8EC-84E3-4AA0-83D2-C262AD0C7E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725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9837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2CC74-856F-F0CB-F4C0-BCBFCED96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0E3E27-44A2-CD9D-43D8-4CDDB8F3A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2C2539D-5942-13C1-18E6-EABAC8BA33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D34D7B-0416-4284-1366-CAC280348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8794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99D78-E40C-297C-C5CC-7EFA0D376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8534B62-3CAA-A0AB-379D-AF814DAB9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A9F7E3C-B175-D1DA-591B-3AA431229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D57664-3B35-EB96-664D-8059A6B82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4811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8638F-89D5-2760-A5CD-1BE849CA3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1F07A60-62AF-2827-D6C3-30D1AF4CC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236718-BD01-9B7E-7BE9-F336D4CB6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32DCA17-832F-017E-92A6-BDA991E218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2166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5638B-4B3D-0E0E-73FE-774869EBF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E47926F-4F63-14BB-A4FB-E361FEB70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137C03-8009-26B0-FB4E-E04842E8B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0D930E-F800-D862-00FF-518846ED3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7046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E1294-43ED-8DF1-665F-2B635BA95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885216-94B2-8145-2CEC-72515ABBE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D149161-7FDA-7E77-BD6C-BC7CDBFF7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41AF2B-3589-1E87-9482-F34B8E29B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4297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93A4-7DD5-EF11-01F1-E720985E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04498C-909C-8113-2AEE-AE6C4E511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F1CE46-3ED4-D257-3A50-0C3CADB671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DD6901-E662-9541-6C30-9FE2DD18D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3272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389DC-D7DD-6548-8222-85D2CB92B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E3CD3E-B736-5319-1575-4C3B50045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848F93F-E9FB-2846-E8EB-D38093283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E5A903-CF9F-4FD2-9ED2-9F499561D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1C8EC-84E3-4AA0-83D2-C262AD0C7E35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9981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340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8626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0695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29013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742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8379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0406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6030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2320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044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055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ED38C7-CC33-4A9A-AE74-C01421608BED}" type="datetimeFigureOut">
              <a:rPr lang="zh-TW" altLang="en-US" smtClean="0"/>
              <a:t>2026/2/2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8774FC-7A17-4E53-8C04-9495E1D7C86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9831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customXml" Target="../ink/ink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B9BB-D2D4-A23F-ED8D-A61C25AC66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考研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4D59CC-426B-1A7F-D9C8-F3F6F69FE1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17560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D8FD69-50C2-186D-E10D-C83563B4A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LA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C923D1B-6572-7248-C4F6-AE1B9BAF2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6492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ACA335-0AFC-EA0E-C20B-02C9E8EAE267}"/>
              </a:ext>
            </a:extLst>
          </p:cNvPr>
          <p:cNvSpPr txBox="1"/>
          <p:nvPr/>
        </p:nvSpPr>
        <p:spPr>
          <a:xfrm>
            <a:off x="889000" y="702734"/>
            <a:ext cx="15917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</a:t>
            </a:r>
            <a:endParaRPr lang="zh-TW" altLang="en-US" sz="4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9ABC6C-6F32-262C-38A9-8839DABEBBA9}"/>
                  </a:ext>
                </a:extLst>
              </p:cNvPr>
              <p:cNvSpPr txBox="1"/>
              <p:nvPr/>
            </p:nvSpPr>
            <p:spPr>
              <a:xfrm>
                <a:off x="1079900" y="2183421"/>
                <a:ext cx="9238381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zh-TW" altLang="en-US" sz="2400" dirty="0"/>
                  <a:t>解 </a:t>
                </a:r>
                <a:r>
                  <a:rPr lang="en-US" altLang="zh-TW" sz="2400" dirty="0"/>
                  <a:t>system of linear equation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1" dirty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400" i="1" dirty="0">
                        <a:latin typeface="Cambria Math" panose="02040503050406030204" pitchFamily="18" charset="0"/>
                      </a:rPr>
                      <m:t>求</m:t>
                    </m:r>
                  </m:oMath>
                </a14:m>
                <a:r>
                  <a:rPr lang="zh-TW" altLang="en-US" sz="2400" dirty="0"/>
                  <a:t> </a:t>
                </a:r>
                <a:r>
                  <a:rPr lang="en-US" altLang="zh-TW" sz="2400" dirty="0"/>
                  <a:t>x ,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, </m:t>
                    </m:r>
                  </m:oMath>
                </a14:m>
                <a:r>
                  <a:rPr lang="en-US" altLang="zh-TW" sz="2400" dirty="0"/>
                  <a:t>inverse matrix</a:t>
                </a:r>
              </a:p>
              <a:p>
                <a:pPr marL="457200" indent="-457200">
                  <a:buAutoNum type="arabicPeriod"/>
                </a:pPr>
                <a:r>
                  <a:rPr lang="zh-TW" altLang="en-US" sz="2400" dirty="0"/>
                  <a:t>不是所有的 </a:t>
                </a:r>
                <a:r>
                  <a:rPr lang="en-US" altLang="zh-TW" sz="2400" dirty="0"/>
                  <a:t>matrix </a:t>
                </a:r>
                <a:r>
                  <a:rPr lang="zh-TW" altLang="en-US" sz="2400" dirty="0"/>
                  <a:t>都有 </a:t>
                </a:r>
                <a:r>
                  <a:rPr lang="en-US" altLang="zh-TW" sz="2400" dirty="0"/>
                  <a:t>inverse matrix, </a:t>
                </a:r>
                <a:r>
                  <a:rPr lang="zh-TW" altLang="en-US" sz="2400" dirty="0"/>
                  <a:t>那怎麼判斷</a:t>
                </a:r>
                <a:r>
                  <a:rPr lang="en-US" altLang="zh-TW" sz="2400" dirty="0"/>
                  <a:t>, </a:t>
                </a:r>
                <a:r>
                  <a:rPr lang="zh-TW" altLang="en-US" sz="2400" dirty="0"/>
                  <a:t>用 </a:t>
                </a:r>
                <a:r>
                  <a:rPr lang="en-US" altLang="zh-TW" sz="2400" dirty="0"/>
                  <a:t>determine </a:t>
                </a:r>
                <a:r>
                  <a:rPr lang="zh-TW" altLang="en-US" sz="2400" dirty="0"/>
                  <a:t>判斷</a:t>
                </a:r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Consistent (unique or infinite) :  </a:t>
                </a:r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In-consistent :</a:t>
                </a:r>
                <a:r>
                  <a:rPr lang="zh-TW" altLang="en-US" sz="2400" dirty="0"/>
                  <a:t> 近似解 </a:t>
                </a:r>
                <a:r>
                  <a:rPr lang="en-US" altLang="zh-TW" sz="2400" dirty="0"/>
                  <a:t>least square problem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A9ABC6C-6F32-262C-38A9-8839DABEB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00" y="2183421"/>
                <a:ext cx="9238381" cy="2308324"/>
              </a:xfrm>
              <a:prstGeom prst="rect">
                <a:avLst/>
              </a:prstGeom>
              <a:blipFill>
                <a:blip r:embed="rId2"/>
                <a:stretch>
                  <a:fillRect l="-1055" t="-2375" r="-858" b="-55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5991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B4CD-14D9-59FA-7243-23B80CED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175AE6-C51D-A9A8-AA13-4C04652E5855}"/>
              </a:ext>
            </a:extLst>
          </p:cNvPr>
          <p:cNvSpPr txBox="1"/>
          <p:nvPr/>
        </p:nvSpPr>
        <p:spPr>
          <a:xfrm>
            <a:off x="888999" y="702734"/>
            <a:ext cx="552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 - decomposition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AAAB-4FA5-50CA-CB97-AD776D75ACBA}"/>
              </a:ext>
            </a:extLst>
          </p:cNvPr>
          <p:cNvSpPr txBox="1"/>
          <p:nvPr/>
        </p:nvSpPr>
        <p:spPr>
          <a:xfrm>
            <a:off x="1079900" y="2183421"/>
            <a:ext cx="923838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LU factorization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Only using row operation 3, find U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Then find L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QR (Gram-Schmidt process)</a:t>
            </a:r>
          </a:p>
          <a:p>
            <a:pPr marL="914400" lvl="1" indent="-457200">
              <a:buAutoNum type="arabicPeriod"/>
            </a:pPr>
            <a:r>
              <a:rPr lang="en-US" altLang="zh-TW" sz="2400" dirty="0" err="1"/>
              <a:t>fdfd</a:t>
            </a:r>
            <a:endParaRPr lang="en-US" altLang="zh-TW" sz="2400" dirty="0"/>
          </a:p>
          <a:p>
            <a:pPr marL="457200" indent="-457200">
              <a:buAutoNum type="arabicPeriod"/>
            </a:pPr>
            <a:r>
              <a:rPr lang="en-US" altLang="zh-TW" sz="2400" dirty="0"/>
              <a:t>SVD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31668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CB072-5D1F-E826-2976-3FD394197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EE7364-F4C6-D65C-A248-AB052AB09217}"/>
              </a:ext>
            </a:extLst>
          </p:cNvPr>
          <p:cNvSpPr txBox="1"/>
          <p:nvPr/>
        </p:nvSpPr>
        <p:spPr>
          <a:xfrm>
            <a:off x="889000" y="702734"/>
            <a:ext cx="29803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LA – </a:t>
            </a:r>
            <a:r>
              <a:rPr lang="zh-TW" altLang="en-US" sz="4800" dirty="0"/>
              <a:t>特例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D537B7-226C-B680-3C59-A7F07C145C20}"/>
                  </a:ext>
                </a:extLst>
              </p:cNvPr>
              <p:cNvSpPr txBox="1"/>
              <p:nvPr/>
            </p:nvSpPr>
            <p:spPr>
              <a:xfrm>
                <a:off x="1079900" y="2183421"/>
                <a:ext cx="9238381" cy="3783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en-US" altLang="zh-TW" sz="2400" dirty="0"/>
                  <a:t>Eigen-value &amp; eigen-vector</a:t>
                </a:r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Definition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i="1" dirty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altLang="zh-TW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/>
                  <a:t>How to find eigen-value &amp; eigen-vector ?</a:t>
                </a:r>
              </a:p>
              <a:p>
                <a:pPr marL="1371600" lvl="2" indent="-457200">
                  <a:buAutoNum type="arabicPeriod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nor/>
                          </m:rPr>
                          <a:rPr lang="en-US" altLang="zh-TW" sz="2400" dirty="0" smtClean="0"/>
                          <m:t>find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eigen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value</m:t>
                        </m:r>
                        <m:r>
                          <m:rPr>
                            <m:nor/>
                          </m:rPr>
                          <a:rPr lang="en-US" altLang="zh-TW" sz="2400" dirty="0" smtClean="0"/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using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:</m:t>
                        </m:r>
                        <m:r>
                          <m:rPr>
                            <m:sty m:val="p"/>
                          </m:rPr>
                          <a:rPr lang="en-US" altLang="zh-TW" sz="2400" b="0" i="0" smtClean="0">
                            <a:latin typeface="Cambria Math" panose="02040503050406030204" pitchFamily="18" charset="0"/>
                          </a:rPr>
                          <m:t>det</m:t>
                        </m:r>
                      </m:fName>
                      <m:e>
                        <m:d>
                          <m:d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el-GR" altLang="zh-TW" sz="24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λ</m:t>
                            </m:r>
                            <m:r>
                              <m:rPr>
                                <m:sty m:val="p"/>
                              </m:rPr>
                              <a:rPr lang="en-US" altLang="zh-TW" sz="24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</m:d>
                      </m:e>
                    </m:func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b="0" dirty="0">
                  <a:ea typeface="Cambria Math" panose="02040503050406030204" pitchFamily="18" charset="0"/>
                </a:endParaRPr>
              </a:p>
              <a:p>
                <a:pPr marL="1371600" lvl="2" indent="-457200">
                  <a:buAutoNum type="arabicPeriod"/>
                </a:pPr>
                <a:r>
                  <a:rPr lang="en-US" altLang="zh-TW" sz="2400" dirty="0"/>
                  <a:t>Find corresponding eigen vector using 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l-GR" altLang="zh-TW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dirty="0"/>
              </a:p>
              <a:p>
                <a:pPr marL="914400" lvl="1" indent="-457200">
                  <a:buAutoNum type="arabicPeriod"/>
                </a:pPr>
                <a:r>
                  <a:rPr lang="en-US" altLang="zh-TW" sz="2400" dirty="0" err="1"/>
                  <a:t>Diagonalizalble</a:t>
                </a:r>
                <a:r>
                  <a:rPr lang="en-US" altLang="zh-TW" sz="2400" dirty="0"/>
                  <a:t> </a:t>
                </a:r>
                <a:endParaRPr lang="en-US" altLang="zh-TW" sz="2400" b="0" i="0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altLang="zh-TW" sz="2400" i="1" dirty="0" smtClean="0">
                        <a:latin typeface="Cambria Math" panose="02040503050406030204" pitchFamily="18" charset="0"/>
                      </a:rPr>
                      <m:t>A</m:t>
                    </m:r>
                    <m:sSup>
                      <m:sSup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,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?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matrix</m:t>
                    </m:r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span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eigen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vector</m:t>
                        </m:r>
                      </m:e>
                    </m:d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is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diagonal</m:t>
                    </m:r>
                    <m: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latin typeface="Cambria Math" panose="02040503050406030204" pitchFamily="18" charset="0"/>
                      </a:rPr>
                      <m:t>matrix</m:t>
                    </m:r>
                    <m:d>
                      <m:d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eigen</m:t>
                        </m:r>
                        <m: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400" b="0" i="0" dirty="0" smtClean="0">
                            <a:latin typeface="Cambria Math" panose="02040503050406030204" pitchFamily="18" charset="0"/>
                          </a:rPr>
                          <m:t>value</m:t>
                        </m:r>
                      </m:e>
                    </m:d>
                  </m:oMath>
                </a14:m>
                <a:endParaRPr lang="en-US" altLang="zh-TW" sz="2400" b="0" dirty="0"/>
              </a:p>
              <a:p>
                <a:pPr marL="457200" indent="-457200">
                  <a:buAutoNum type="arabicPeriod"/>
                </a:pPr>
                <a:r>
                  <a:rPr lang="en-US" altLang="zh-TW" sz="2400" b="0" dirty="0" err="1"/>
                  <a:t>fdfd</a:t>
                </a:r>
                <a:endParaRPr lang="en-US" altLang="zh-TW" sz="2400" b="0" dirty="0"/>
              </a:p>
              <a:p>
                <a:pPr marL="1371600" lvl="2" indent="-457200">
                  <a:buAutoNum type="arabicPeriod"/>
                </a:pPr>
                <a:endParaRPr lang="zh-TW" alt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1D537B7-226C-B680-3C59-A7F07C145C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00" y="2183421"/>
                <a:ext cx="9238381" cy="3783793"/>
              </a:xfrm>
              <a:prstGeom prst="rect">
                <a:avLst/>
              </a:prstGeom>
              <a:blipFill>
                <a:blip r:embed="rId2"/>
                <a:stretch>
                  <a:fillRect l="-1055" t="-1449" r="-164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1826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FB7D69-D0FB-314D-4F3C-4804EDD0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6BE27C-F4B9-5F84-9079-87EA4DEB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DM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23D1535-80B2-F9A5-A3CF-FBCC0664F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4226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175C-C9D0-685C-48A1-3DEBBCBCB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0030BC-EDDE-A907-62CB-8FFC3BA5AFE9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– </a:t>
            </a:r>
            <a:r>
              <a:rPr lang="zh-TW" altLang="en-US" sz="4800" dirty="0"/>
              <a:t>數論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F366EF-9809-91BD-835F-D5AB5250677B}"/>
              </a:ext>
            </a:extLst>
          </p:cNvPr>
          <p:cNvSpPr txBox="1"/>
          <p:nvPr/>
        </p:nvSpPr>
        <p:spPr>
          <a:xfrm>
            <a:off x="889000" y="1595021"/>
            <a:ext cx="923838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Pigeon-hole theorem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30003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DD2B2-81C4-65E3-6FD3-5C3DEDF57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0ABB9F-AB3A-ECF6-DC1D-E9488CAB5DD2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- graph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037B15-46A4-FF51-1AC5-9B3F59F926FC}"/>
              </a:ext>
            </a:extLst>
          </p:cNvPr>
          <p:cNvSpPr txBox="1"/>
          <p:nvPr/>
        </p:nvSpPr>
        <p:spPr>
          <a:xfrm>
            <a:off x="889000" y="1595021"/>
            <a:ext cx="9238381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Property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Connectivity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Articulation point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DFS/BFS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Kruskal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Prim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Solin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Application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Vertex coloring problem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NP-hard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Planar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349022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DD094-3EAE-5FEF-C7F4-E8C4F0C0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A8720E-E538-AC0E-9FD6-E57B39156214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DM - tree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9E409D-E406-5BF3-1D1D-984A2B92214E}"/>
              </a:ext>
            </a:extLst>
          </p:cNvPr>
          <p:cNvSpPr txBox="1"/>
          <p:nvPr/>
        </p:nvSpPr>
        <p:spPr>
          <a:xfrm>
            <a:off x="889000" y="1595021"/>
            <a:ext cx="9238381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Property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Connectivity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Articulation point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DFS/BFS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Kruskal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Prim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Solin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Operation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Traversal : (1) pre/in/post-order (2) 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Application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Vertex coloring problem</a:t>
            </a:r>
          </a:p>
          <a:p>
            <a:pPr marL="1371600" lvl="2" indent="-457200">
              <a:buAutoNum type="arabicPeriod"/>
            </a:pPr>
            <a:r>
              <a:rPr lang="en-US" altLang="zh-TW" sz="2400" dirty="0"/>
              <a:t>NP-hard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Planar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9925266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2091B7-D08F-52C2-3053-551161D6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128FF-0439-DFB6-E8B6-D6B00E71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AM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CAB4BEE-1CAE-33C9-9BD8-304270274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527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FBE3F-F781-91E4-A82B-B49C7C81B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CF2076-D7E4-121F-ED08-4A7D15E4E261}"/>
              </a:ext>
            </a:extLst>
          </p:cNvPr>
          <p:cNvSpPr txBox="1"/>
          <p:nvPr/>
        </p:nvSpPr>
        <p:spPr>
          <a:xfrm>
            <a:off x="889000" y="702734"/>
            <a:ext cx="3471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- graph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499FC3-D207-6041-8517-05A640E37618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MST(Minimum Spanning Tree)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Shortest Path Problem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Max flow problem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 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390224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0A7C-8E96-38C7-A648-F405B3A96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6F7A4B-11B9-54C7-2A11-AB4043EE36B1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– NP hardness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4D3564-369C-09DA-2124-5BBBA111D6B2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reduction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Definition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Example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TSP(Travel Salesman Problem)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8139238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78F6C-8EF5-127C-1773-D6B80677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E29D69-E629-3D08-DB6B-7A1CDC3050A2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AM – NP hardness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27DC9C-9907-702E-E0B6-02453A93F0F5}"/>
              </a:ext>
            </a:extLst>
          </p:cNvPr>
          <p:cNvSpPr txBox="1"/>
          <p:nvPr/>
        </p:nvSpPr>
        <p:spPr>
          <a:xfrm>
            <a:off x="889000" y="159502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reduction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Definition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Example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TSP(Travel Salesman Problem)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650700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4687B5-C7E1-3354-14F9-B19F9367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B08184-F59A-B668-FC9D-BF4A429C1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DS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DC13677-7179-7BDB-F41B-5C703DB93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0053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623FE-7CFB-8A1D-60B2-CE5E1861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727D12-B963-356E-717A-5E7CFB46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OS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DC13A09-8684-8EEB-8B50-14A35AF12B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443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E528D-FCCC-6940-D33D-D8B77FF5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A546BE-BEA2-73FE-A874-8AFA496994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CO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9BA028C-C34D-9C70-F128-F4C3BEA130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639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25AF5-8363-7097-802B-3E46D53AF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C68F91-4F8A-3086-772C-F3471195B366}"/>
              </a:ext>
            </a:extLst>
          </p:cNvPr>
          <p:cNvSpPr txBox="1"/>
          <p:nvPr/>
        </p:nvSpPr>
        <p:spPr>
          <a:xfrm>
            <a:off x="889000" y="702734"/>
            <a:ext cx="6665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CPU performance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DFFA52-BFA7-3EE9-5103-C3C87122479C}"/>
              </a:ext>
            </a:extLst>
          </p:cNvPr>
          <p:cNvSpPr txBox="1"/>
          <p:nvPr/>
        </p:nvSpPr>
        <p:spPr>
          <a:xfrm>
            <a:off x="889000" y="1595021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MIPS (Million Instructions per second)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7" name="圖片 6" descr="一張含有 文字, 字型, 白色, 行 的圖片&#10;&#10;AI 產生的內容可能不正確。">
            <a:extLst>
              <a:ext uri="{FF2B5EF4-FFF2-40B4-BE49-F238E27FC236}">
                <a16:creationId xmlns:a16="http://schemas.microsoft.com/office/drawing/2014/main" id="{4D661A8E-7EA9-D5C9-236E-2AC7105EF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456" y="1128138"/>
            <a:ext cx="4844143" cy="12458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338B167C-08BB-4E55-2B88-C06EC56FF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79" y="5262979"/>
            <a:ext cx="10469078" cy="105796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A222D1C-047B-41CC-F501-981523BC2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638315"/>
            <a:ext cx="10498015" cy="790685"/>
          </a:xfrm>
          <a:prstGeom prst="rect">
            <a:avLst/>
          </a:prstGeom>
        </p:spPr>
      </p:pic>
      <p:pic>
        <p:nvPicPr>
          <p:cNvPr id="15" name="圖片 14" descr="一張含有 文字, 字型, 白色, 行 的圖片&#10;&#10;AI 產生的內容可能不正確。">
            <a:extLst>
              <a:ext uri="{FF2B5EF4-FFF2-40B4-BE49-F238E27FC236}">
                <a16:creationId xmlns:a16="http://schemas.microsoft.com/office/drawing/2014/main" id="{D4787894-AFDA-6756-2C18-A44C0B897F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687" y="3607816"/>
            <a:ext cx="7125694" cy="1390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390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71668-9030-D0B6-FFB7-0FDBEA21A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DF3151-ECC7-1B30-FA75-6352A19DC6C1}"/>
              </a:ext>
            </a:extLst>
          </p:cNvPr>
          <p:cNvSpPr txBox="1"/>
          <p:nvPr/>
        </p:nvSpPr>
        <p:spPr>
          <a:xfrm>
            <a:off x="889000" y="702734"/>
            <a:ext cx="52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power wall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C400A-7861-75CE-636D-363EF8322BEA}"/>
              </a:ext>
            </a:extLst>
          </p:cNvPr>
          <p:cNvSpPr txBox="1"/>
          <p:nvPr/>
        </p:nvSpPr>
        <p:spPr>
          <a:xfrm>
            <a:off x="889000" y="1595021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Dynamic power consumption (CMOS)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6" name="圖片 5" descr="一張含有 字型, 文字, 印刷術, 書法 的圖片&#10;&#10;AI 產生的內容可能不正確。">
            <a:extLst>
              <a:ext uri="{FF2B5EF4-FFF2-40B4-BE49-F238E27FC236}">
                <a16:creationId xmlns:a16="http://schemas.microsoft.com/office/drawing/2014/main" id="{B41C93E0-1144-2584-FEB8-BA889A9B5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549" y="3107450"/>
            <a:ext cx="7944959" cy="117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29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6216-874D-5CD4-7638-0D109BFE0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AADD31-DC24-0854-981A-71428F2D7340}"/>
              </a:ext>
            </a:extLst>
          </p:cNvPr>
          <p:cNvSpPr txBox="1"/>
          <p:nvPr/>
        </p:nvSpPr>
        <p:spPr>
          <a:xfrm>
            <a:off x="1037771" y="592436"/>
            <a:ext cx="101164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pitfall (</a:t>
            </a:r>
            <a:r>
              <a:rPr lang="zh-TW" altLang="en-US" sz="4800" dirty="0"/>
              <a:t>不是越多 </a:t>
            </a:r>
            <a:r>
              <a:rPr lang="en-US" altLang="zh-TW" sz="4800" dirty="0"/>
              <a:t>CPU </a:t>
            </a:r>
            <a:r>
              <a:rPr lang="zh-TW" altLang="en-US" sz="4800" dirty="0"/>
              <a:t>就能有更好的效能</a:t>
            </a:r>
            <a:r>
              <a:rPr lang="en-US" altLang="zh-TW" sz="4800" dirty="0"/>
              <a:t>)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BC0A6-1E48-A936-9152-A3742595F7D6}"/>
              </a:ext>
            </a:extLst>
          </p:cNvPr>
          <p:cNvSpPr txBox="1"/>
          <p:nvPr/>
        </p:nvSpPr>
        <p:spPr>
          <a:xfrm>
            <a:off x="1158419" y="2644170"/>
            <a:ext cx="92383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Amdahl’s law</a:t>
            </a:r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字型, 螢幕擷取畫面, 行 的圖片&#10;&#10;AI 產生的內容可能不正確。">
            <a:extLst>
              <a:ext uri="{FF2B5EF4-FFF2-40B4-BE49-F238E27FC236}">
                <a16:creationId xmlns:a16="http://schemas.microsoft.com/office/drawing/2014/main" id="{546CDA3F-65ED-2CE5-2001-1ABE04F7E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03" y="3700271"/>
            <a:ext cx="8514516" cy="150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147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8C21-2C86-2651-BB9E-DF6DB6E2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47AB4C-942D-9F5D-FB9D-0564EF81F258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pic>
        <p:nvPicPr>
          <p:cNvPr id="6" name="圖片 5" descr="一張含有 文字, 螢幕擷取畫面, 數字, 字型 的圖片&#10;&#10;AI 產生的內容可能不正確。">
            <a:extLst>
              <a:ext uri="{FF2B5EF4-FFF2-40B4-BE49-F238E27FC236}">
                <a16:creationId xmlns:a16="http://schemas.microsoft.com/office/drawing/2014/main" id="{8349C925-CF1B-A1BA-B294-7383EB986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166" y="1838170"/>
            <a:ext cx="11179666" cy="42205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筆跡 2">
                <a:extLst>
                  <a:ext uri="{FF2B5EF4-FFF2-40B4-BE49-F238E27FC236}">
                    <a16:creationId xmlns:a16="http://schemas.microsoft.com/office/drawing/2014/main" id="{C75595ED-E9E6-3B56-884A-51C232CC4DA2}"/>
                  </a:ext>
                </a:extLst>
              </p14:cNvPr>
              <p14:cNvContentPartPr/>
              <p14:nvPr/>
            </p14:nvContentPartPr>
            <p14:xfrm>
              <a:off x="3350897" y="3157630"/>
              <a:ext cx="175680" cy="403200"/>
            </p14:xfrm>
          </p:contentPart>
        </mc:Choice>
        <mc:Fallback xmlns="">
          <p:pic>
            <p:nvPicPr>
              <p:cNvPr id="3" name="筆跡 2">
                <a:extLst>
                  <a:ext uri="{FF2B5EF4-FFF2-40B4-BE49-F238E27FC236}">
                    <a16:creationId xmlns:a16="http://schemas.microsoft.com/office/drawing/2014/main" id="{C75595ED-E9E6-3B56-884A-51C232CC4DA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44777" y="3151510"/>
                <a:ext cx="187920" cy="41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群組 8">
            <a:extLst>
              <a:ext uri="{FF2B5EF4-FFF2-40B4-BE49-F238E27FC236}">
                <a16:creationId xmlns:a16="http://schemas.microsoft.com/office/drawing/2014/main" id="{0F5705F0-2022-DBB0-59DD-C0730E474EEB}"/>
              </a:ext>
            </a:extLst>
          </p:cNvPr>
          <p:cNvGrpSpPr/>
          <p:nvPr/>
        </p:nvGrpSpPr>
        <p:grpSpPr>
          <a:xfrm>
            <a:off x="4331177" y="3064750"/>
            <a:ext cx="127800" cy="96480"/>
            <a:chOff x="4331177" y="3064750"/>
            <a:chExt cx="127800" cy="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筆跡 6">
                  <a:extLst>
                    <a:ext uri="{FF2B5EF4-FFF2-40B4-BE49-F238E27FC236}">
                      <a16:creationId xmlns:a16="http://schemas.microsoft.com/office/drawing/2014/main" id="{8CC197EF-7698-F249-289C-0320C4D7CB95}"/>
                    </a:ext>
                  </a:extLst>
                </p14:cNvPr>
                <p14:cNvContentPartPr/>
                <p14:nvPr/>
              </p14:nvContentPartPr>
              <p14:xfrm>
                <a:off x="4343417" y="3102910"/>
                <a:ext cx="115560" cy="19800"/>
              </p14:xfrm>
            </p:contentPart>
          </mc:Choice>
          <mc:Fallback xmlns="">
            <p:pic>
              <p:nvPicPr>
                <p:cNvPr id="7" name="筆跡 6">
                  <a:extLst>
                    <a:ext uri="{FF2B5EF4-FFF2-40B4-BE49-F238E27FC236}">
                      <a16:creationId xmlns:a16="http://schemas.microsoft.com/office/drawing/2014/main" id="{8CC197EF-7698-F249-289C-0320C4D7CB9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337297" y="3096790"/>
                  <a:ext cx="127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筆跡 7">
                  <a:extLst>
                    <a:ext uri="{FF2B5EF4-FFF2-40B4-BE49-F238E27FC236}">
                      <a16:creationId xmlns:a16="http://schemas.microsoft.com/office/drawing/2014/main" id="{7433CC82-E7DD-1F29-0B2F-1CEB2C20A29C}"/>
                    </a:ext>
                  </a:extLst>
                </p14:cNvPr>
                <p14:cNvContentPartPr/>
                <p14:nvPr/>
              </p14:nvContentPartPr>
              <p14:xfrm>
                <a:off x="4331177" y="3064750"/>
                <a:ext cx="42120" cy="96480"/>
              </p14:xfrm>
            </p:contentPart>
          </mc:Choice>
          <mc:Fallback xmlns="">
            <p:pic>
              <p:nvPicPr>
                <p:cNvPr id="8" name="筆跡 7">
                  <a:extLst>
                    <a:ext uri="{FF2B5EF4-FFF2-40B4-BE49-F238E27FC236}">
                      <a16:creationId xmlns:a16="http://schemas.microsoft.com/office/drawing/2014/main" id="{7433CC82-E7DD-1F29-0B2F-1CEB2C20A29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325057" y="3058630"/>
                  <a:ext cx="5436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AB950EC4-E2F1-3E3F-0A3E-950C2C07D0CD}"/>
              </a:ext>
            </a:extLst>
          </p:cNvPr>
          <p:cNvGrpSpPr/>
          <p:nvPr/>
        </p:nvGrpSpPr>
        <p:grpSpPr>
          <a:xfrm>
            <a:off x="4322177" y="3358870"/>
            <a:ext cx="127080" cy="96120"/>
            <a:chOff x="4322177" y="3358870"/>
            <a:chExt cx="127080" cy="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筆跡 9">
                  <a:extLst>
                    <a:ext uri="{FF2B5EF4-FFF2-40B4-BE49-F238E27FC236}">
                      <a16:creationId xmlns:a16="http://schemas.microsoft.com/office/drawing/2014/main" id="{F8DEA8A4-DB4D-8F40-6AE3-DB46733A8AD3}"/>
                    </a:ext>
                  </a:extLst>
                </p14:cNvPr>
                <p14:cNvContentPartPr/>
                <p14:nvPr/>
              </p14:nvContentPartPr>
              <p14:xfrm>
                <a:off x="4322177" y="3405670"/>
                <a:ext cx="115560" cy="11160"/>
              </p14:xfrm>
            </p:contentPart>
          </mc:Choice>
          <mc:Fallback xmlns="">
            <p:pic>
              <p:nvPicPr>
                <p:cNvPr id="10" name="筆跡 9">
                  <a:extLst>
                    <a:ext uri="{FF2B5EF4-FFF2-40B4-BE49-F238E27FC236}">
                      <a16:creationId xmlns:a16="http://schemas.microsoft.com/office/drawing/2014/main" id="{F8DEA8A4-DB4D-8F40-6AE3-DB46733A8AD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16057" y="3399550"/>
                  <a:ext cx="127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筆跡 10">
                  <a:extLst>
                    <a:ext uri="{FF2B5EF4-FFF2-40B4-BE49-F238E27FC236}">
                      <a16:creationId xmlns:a16="http://schemas.microsoft.com/office/drawing/2014/main" id="{08C338A2-F11D-6C75-E5D6-8E0C0257B9C8}"/>
                    </a:ext>
                  </a:extLst>
                </p14:cNvPr>
                <p14:cNvContentPartPr/>
                <p14:nvPr/>
              </p14:nvContentPartPr>
              <p14:xfrm>
                <a:off x="4400297" y="3358870"/>
                <a:ext cx="48960" cy="96120"/>
              </p14:xfrm>
            </p:contentPart>
          </mc:Choice>
          <mc:Fallback xmlns="">
            <p:pic>
              <p:nvPicPr>
                <p:cNvPr id="11" name="筆跡 10">
                  <a:extLst>
                    <a:ext uri="{FF2B5EF4-FFF2-40B4-BE49-F238E27FC236}">
                      <a16:creationId xmlns:a16="http://schemas.microsoft.com/office/drawing/2014/main" id="{08C338A2-F11D-6C75-E5D6-8E0C0257B9C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394177" y="3352750"/>
                  <a:ext cx="61200" cy="10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77092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E29-39B1-00CC-9BDF-4887DA09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數字, 字型, 文件 的圖片&#10;&#10;AI 產生的內容可能不正確。">
            <a:extLst>
              <a:ext uri="{FF2B5EF4-FFF2-40B4-BE49-F238E27FC236}">
                <a16:creationId xmlns:a16="http://schemas.microsoft.com/office/drawing/2014/main" id="{EDAF8E2D-A208-1452-FD8E-F4965B311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43" y="711380"/>
            <a:ext cx="10504714" cy="543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690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0347-DA8B-13EE-0417-71985FD14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B16338-8DB4-E902-F14D-3252756BF979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0C2E78-8C50-1DA0-5018-251C63921CEE}"/>
              </a:ext>
            </a:extLst>
          </p:cNvPr>
          <p:cNvSpPr txBox="1"/>
          <p:nvPr/>
        </p:nvSpPr>
        <p:spPr>
          <a:xfrm>
            <a:off x="1037771" y="1797654"/>
            <a:ext cx="9238381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WORD = 32 bits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Register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$s0, $s1 … for variables in C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$t0, $t1 … for temporary register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Data transfer instruction(move data between memory &amp; register)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Load : copy data from memory to register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Store : copy data from register to memory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Alignment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1 WORD = 4 bytes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Big endian(MIPS) , Little endian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6" name="圖片 5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06116BE2-40A4-51CB-E6B9-2A37E474A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64" y="433041"/>
            <a:ext cx="4935064" cy="235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3406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E00B5-B231-9CF4-87BA-E91A78AF0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CDF32-5F5F-E905-91A6-435C678647BE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pic>
        <p:nvPicPr>
          <p:cNvPr id="6" name="圖片 5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41E98F34-3D16-A2A4-07A0-AC3B0995A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987" y="2081230"/>
            <a:ext cx="4935064" cy="2355006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7E302BCF-2916-F302-25EA-4F4EA87D7442}"/>
              </a:ext>
            </a:extLst>
          </p:cNvPr>
          <p:cNvGrpSpPr/>
          <p:nvPr/>
        </p:nvGrpSpPr>
        <p:grpSpPr>
          <a:xfrm>
            <a:off x="1479981" y="4776770"/>
            <a:ext cx="9940650" cy="1302092"/>
            <a:chOff x="1383728" y="3486985"/>
            <a:chExt cx="9940650" cy="1302092"/>
          </a:xfrm>
        </p:grpSpPr>
        <p:pic>
          <p:nvPicPr>
            <p:cNvPr id="8" name="圖片 7" descr="一張含有 文字, 字型, 行, 螢幕擷取畫面 的圖片&#10;&#10;AI 產生的內容可能不正確。">
              <a:extLst>
                <a:ext uri="{FF2B5EF4-FFF2-40B4-BE49-F238E27FC236}">
                  <a16:creationId xmlns:a16="http://schemas.microsoft.com/office/drawing/2014/main" id="{AA88ADA0-16A4-443C-2600-1640783C6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14222" y="3486985"/>
              <a:ext cx="7542998" cy="1165938"/>
            </a:xfrm>
            <a:prstGeom prst="rect">
              <a:avLst/>
            </a:prstGeom>
          </p:spPr>
        </p:pic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C2DFBF6-AEF2-349D-3CCC-32D58EC8E873}"/>
                </a:ext>
              </a:extLst>
            </p:cNvPr>
            <p:cNvSpPr/>
            <p:nvPr/>
          </p:nvSpPr>
          <p:spPr>
            <a:xfrm>
              <a:off x="2638515" y="3574627"/>
              <a:ext cx="269240" cy="7620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F1448C2-1AC7-369D-0866-7F4BD2390C1B}"/>
                </a:ext>
              </a:extLst>
            </p:cNvPr>
            <p:cNvSpPr/>
            <p:nvPr/>
          </p:nvSpPr>
          <p:spPr>
            <a:xfrm>
              <a:off x="9767436" y="3574627"/>
              <a:ext cx="269240" cy="762000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00B050"/>
                </a:solidFill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ECC8C34E-DA56-A657-7ED1-A83C693D214A}"/>
                </a:ext>
              </a:extLst>
            </p:cNvPr>
            <p:cNvSpPr txBox="1"/>
            <p:nvPr/>
          </p:nvSpPr>
          <p:spPr>
            <a:xfrm>
              <a:off x="8367763" y="4419745"/>
              <a:ext cx="29566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solidFill>
                    <a:srgbClr val="00B050"/>
                  </a:solidFill>
                </a:rPr>
                <a:t>Least significant bit (rightest)</a:t>
              </a:r>
              <a:endParaRPr lang="zh-TW" altLang="en-US" dirty="0">
                <a:solidFill>
                  <a:srgbClr val="00B050"/>
                </a:solidFill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7A6548-C95F-E7A2-82F5-690585DBB8AA}"/>
                </a:ext>
              </a:extLst>
            </p:cNvPr>
            <p:cNvSpPr txBox="1"/>
            <p:nvPr/>
          </p:nvSpPr>
          <p:spPr>
            <a:xfrm>
              <a:off x="1383728" y="4419745"/>
              <a:ext cx="29566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>
                  <a:solidFill>
                    <a:srgbClr val="C00000"/>
                  </a:solidFill>
                </a:rPr>
                <a:t>most significant bit (</a:t>
              </a:r>
              <a:r>
                <a:rPr lang="en-US" altLang="zh-TW" dirty="0" err="1">
                  <a:solidFill>
                    <a:srgbClr val="C00000"/>
                  </a:solidFill>
                </a:rPr>
                <a:t>leftest</a:t>
              </a:r>
              <a:r>
                <a:rPr lang="en-US" altLang="zh-TW" dirty="0">
                  <a:solidFill>
                    <a:srgbClr val="C00000"/>
                  </a:solidFill>
                </a:rPr>
                <a:t>)</a:t>
              </a:r>
              <a:endParaRPr lang="zh-TW" altLang="en-US" dirty="0">
                <a:solidFill>
                  <a:srgbClr val="C00000"/>
                </a:solidFill>
              </a:endParaRPr>
            </a:p>
          </p:txBody>
        </p:sp>
      </p:grpSp>
      <p:pic>
        <p:nvPicPr>
          <p:cNvPr id="7" name="圖片 6" descr="一張含有 字型, 印刷術, 文字, 白色 的圖片&#10;&#10;AI 產生的內容可能不正確。">
            <a:extLst>
              <a:ext uri="{FF2B5EF4-FFF2-40B4-BE49-F238E27FC236}">
                <a16:creationId xmlns:a16="http://schemas.microsoft.com/office/drawing/2014/main" id="{EE89A5D9-862E-69E7-4230-CAE24623C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0724" y="1518129"/>
            <a:ext cx="3144295" cy="491676"/>
          </a:xfrm>
          <a:prstGeom prst="rect">
            <a:avLst/>
          </a:prstGeom>
        </p:spPr>
      </p:pic>
      <p:pic>
        <p:nvPicPr>
          <p:cNvPr id="14" name="圖片 13" descr="一張含有 字型, 行, 符號, 螢幕擷取畫面 的圖片&#10;&#10;AI 產生的內容可能不正確。">
            <a:extLst>
              <a:ext uri="{FF2B5EF4-FFF2-40B4-BE49-F238E27FC236}">
                <a16:creationId xmlns:a16="http://schemas.microsoft.com/office/drawing/2014/main" id="{A472F880-9B45-266C-6384-4C97B35C6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152" y="2223679"/>
            <a:ext cx="3610479" cy="876422"/>
          </a:xfrm>
          <a:prstGeom prst="rect">
            <a:avLst/>
          </a:prstGeom>
        </p:spPr>
      </p:pic>
      <p:sp>
        <p:nvSpPr>
          <p:cNvPr id="15" name="TextBox 2">
            <a:extLst>
              <a:ext uri="{FF2B5EF4-FFF2-40B4-BE49-F238E27FC236}">
                <a16:creationId xmlns:a16="http://schemas.microsoft.com/office/drawing/2014/main" id="{99CB4E8C-ED4B-DB1B-2FFF-D561CB409655}"/>
              </a:ext>
            </a:extLst>
          </p:cNvPr>
          <p:cNvSpPr txBox="1"/>
          <p:nvPr/>
        </p:nvSpPr>
        <p:spPr>
          <a:xfrm>
            <a:off x="1037771" y="1797654"/>
            <a:ext cx="92383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Two’s complement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Sign + magnitude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Sign extension (ex. 16-bit to 32-bit)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Positive(0) -&gt;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0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Negative(1) -&gt; 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1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022532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1D34C-1841-17E1-6C65-7E2414BBF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53BC9A-038E-7CDF-9983-072DEABE5146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instruction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19CC99A9-D1FB-BB46-FCB2-E878D75AA03C}"/>
              </a:ext>
            </a:extLst>
          </p:cNvPr>
          <p:cNvSpPr txBox="1"/>
          <p:nvPr/>
        </p:nvSpPr>
        <p:spPr>
          <a:xfrm>
            <a:off x="1037771" y="1732561"/>
            <a:ext cx="92383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Two’s complement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Sign + magnitude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Sign extension (ex. 16-bit to 32-bit)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Positive(0) -&gt;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0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Negative(1) -&gt; </a:t>
            </a:r>
            <a:r>
              <a:rPr lang="zh-TW" altLang="en-US" sz="2400" dirty="0"/>
              <a:t>直接前面補 </a:t>
            </a:r>
            <a:r>
              <a:rPr lang="en-US" altLang="zh-TW" sz="2400" dirty="0"/>
              <a:t>1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0D05C07E-0D4D-E963-6CD0-0ADADAF1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3278" y="3781176"/>
            <a:ext cx="5160950" cy="622739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A56B9D5-7600-AF99-D069-B8C12EAC9D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0851" y="4403915"/>
            <a:ext cx="9828607" cy="740037"/>
          </a:xfrm>
          <a:prstGeom prst="rect">
            <a:avLst/>
          </a:prstGeom>
        </p:spPr>
      </p:pic>
      <p:pic>
        <p:nvPicPr>
          <p:cNvPr id="16" name="圖片 15" descr="一張含有 字型, 行, 印刷術 的圖片&#10;&#10;AI 產生的內容可能不正確。">
            <a:extLst>
              <a:ext uri="{FF2B5EF4-FFF2-40B4-BE49-F238E27FC236}">
                <a16:creationId xmlns:a16="http://schemas.microsoft.com/office/drawing/2014/main" id="{8CC8CFBF-68D6-800B-6FD4-96A9B8DEE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5246967"/>
            <a:ext cx="5106113" cy="87642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104A542B-516A-56DB-A174-5FC1BFD3E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888" y="5959110"/>
            <a:ext cx="10998184" cy="80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110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E6034-2B18-C668-E486-37866966F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D6793E-E5C8-307A-2EC5-8AA4910A2E42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to machine code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C7563F1F-BE45-CFFB-75A1-5E4261169918}"/>
              </a:ext>
            </a:extLst>
          </p:cNvPr>
          <p:cNvSpPr txBox="1"/>
          <p:nvPr/>
        </p:nvSpPr>
        <p:spPr>
          <a:xfrm>
            <a:off x="1037771" y="1732561"/>
            <a:ext cx="923838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dd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327D3099-6E5E-4B7A-C3F7-D6479356E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14" y="3034419"/>
            <a:ext cx="6727371" cy="316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03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AE26B-F4B5-1E20-C222-944EA169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5AC512-64F0-BA72-58E3-7050F90DACA9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to machine code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5111EB88-23A8-6C1D-C663-EF3B1460FA5B}"/>
              </a:ext>
            </a:extLst>
          </p:cNvPr>
          <p:cNvSpPr txBox="1"/>
          <p:nvPr/>
        </p:nvSpPr>
        <p:spPr>
          <a:xfrm>
            <a:off x="1037771" y="1732561"/>
            <a:ext cx="923838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R-type (Register)</a:t>
            </a:r>
          </a:p>
          <a:p>
            <a:pPr marL="457200" indent="-457200">
              <a:buAutoNum type="arabicPeriod"/>
            </a:pPr>
            <a:r>
              <a:rPr lang="en-US" altLang="zh-TW" sz="2400" dirty="0"/>
              <a:t>I-type (Immediate)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175AB71E-F004-1665-A273-CEBC9BE4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461" y="3198422"/>
            <a:ext cx="6727371" cy="3162254"/>
          </a:xfrm>
          <a:prstGeom prst="rect">
            <a:avLst/>
          </a:prstGeom>
        </p:spPr>
      </p:pic>
      <p:pic>
        <p:nvPicPr>
          <p:cNvPr id="5" name="圖片 4" descr="一張含有 文字, 字型, 行, 螢幕擷取畫面 的圖片&#10;&#10;AI 產生的內容可能不正確。">
            <a:extLst>
              <a:ext uri="{FF2B5EF4-FFF2-40B4-BE49-F238E27FC236}">
                <a16:creationId xmlns:a16="http://schemas.microsoft.com/office/drawing/2014/main" id="{57326276-4020-216F-F56A-7053A1011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166" y="2552663"/>
            <a:ext cx="6843562" cy="87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507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C0822-B4E9-FD2E-6F52-4B957D7A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D164B6-7595-69BC-89EE-C43D1AF74174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support procedure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7088992A-B31B-74F8-44AC-F58BEBC57935}"/>
              </a:ext>
            </a:extLst>
          </p:cNvPr>
          <p:cNvSpPr txBox="1"/>
          <p:nvPr/>
        </p:nvSpPr>
        <p:spPr>
          <a:xfrm>
            <a:off x="1037771" y="173256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Function (or procedure)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Implement using stack (push parameter to stack before entering function)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6" name="圖片 5" descr="一張含有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FE96545F-45FD-8729-2FBB-C4A19DD44C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854" y="2738473"/>
            <a:ext cx="2947445" cy="3527091"/>
          </a:xfrm>
          <a:prstGeom prst="rect">
            <a:avLst/>
          </a:prstGeom>
        </p:spPr>
      </p:pic>
      <p:pic>
        <p:nvPicPr>
          <p:cNvPr id="8" name="圖片 7" descr="一張含有 文字, 字型, 螢幕擷取畫面, 筆跡 的圖片&#10;&#10;AI 產生的內容可能不正確。">
            <a:extLst>
              <a:ext uri="{FF2B5EF4-FFF2-40B4-BE49-F238E27FC236}">
                <a16:creationId xmlns:a16="http://schemas.microsoft.com/office/drawing/2014/main" id="{A3921011-FC27-2396-A68D-C80DBC2E1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3918" y="3544071"/>
            <a:ext cx="4648849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087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7D7E-2606-69DB-D733-51E65ABC5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41489B3E-1815-3E80-3DB5-9EC225FE9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31" y="192551"/>
            <a:ext cx="8230749" cy="1657581"/>
          </a:xfrm>
          <a:prstGeom prst="rect">
            <a:avLst/>
          </a:prstGeom>
        </p:spPr>
      </p:pic>
      <p:pic>
        <p:nvPicPr>
          <p:cNvPr id="12" name="圖片 11" descr="一張含有 文字, 螢幕擷取畫面, 軟體, 字型 的圖片&#10;&#10;AI 產生的內容可能不正確。">
            <a:extLst>
              <a:ext uri="{FF2B5EF4-FFF2-40B4-BE49-F238E27FC236}">
                <a16:creationId xmlns:a16="http://schemas.microsoft.com/office/drawing/2014/main" id="{D8832EA3-0BB1-2CFD-8EAA-B10D1BCD9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31" y="1950834"/>
            <a:ext cx="5708345" cy="4714615"/>
          </a:xfrm>
          <a:prstGeom prst="rect">
            <a:avLst/>
          </a:prstGeom>
        </p:spPr>
      </p:pic>
      <p:pic>
        <p:nvPicPr>
          <p:cNvPr id="4" name="圖片 3" descr="一張含有 文字, 螢幕擷取畫面, 行, 字型 的圖片&#10;&#10;AI 產生的內容可能不正確。">
            <a:extLst>
              <a:ext uri="{FF2B5EF4-FFF2-40B4-BE49-F238E27FC236}">
                <a16:creationId xmlns:a16="http://schemas.microsoft.com/office/drawing/2014/main" id="{47A0BE9E-6EBA-C64A-30F6-BEF6F975F8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503" y="2797628"/>
            <a:ext cx="5402239" cy="283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4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694C-6381-4313-E381-D38BF8B6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590D5A-293F-E6CB-7D1C-36135ED2187C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cache </a:t>
            </a:r>
            <a:r>
              <a:rPr lang="en-US" altLang="zh-TW" sz="4800" dirty="0" err="1"/>
              <a:t>v.s</a:t>
            </a:r>
            <a:r>
              <a:rPr lang="en-US" altLang="zh-TW" sz="4800" dirty="0"/>
              <a:t>. memory </a:t>
            </a:r>
            <a:endParaRPr lang="zh-TW" altLang="en-US" sz="4800" dirty="0"/>
          </a:p>
        </p:txBody>
      </p:sp>
      <p:pic>
        <p:nvPicPr>
          <p:cNvPr id="5" name="圖片 4" descr="一張含有 文字, 螢幕擷取畫面, 軟體 的圖片&#10;&#10;AI 產生的內容可能不正確。">
            <a:extLst>
              <a:ext uri="{FF2B5EF4-FFF2-40B4-BE49-F238E27FC236}">
                <a16:creationId xmlns:a16="http://schemas.microsoft.com/office/drawing/2014/main" id="{FA333EEE-72A1-0029-816E-64B403EA7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952" y="1607357"/>
            <a:ext cx="7187927" cy="4473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67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913CD-F0E3-220D-72F5-635C3825E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6EA064-5FFE-9133-B38F-B59C7058301C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memory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578ABD74-FDC6-6EE9-9205-8FF23D7598DF}"/>
              </a:ext>
            </a:extLst>
          </p:cNvPr>
          <p:cNvSpPr txBox="1"/>
          <p:nvPr/>
        </p:nvSpPr>
        <p:spPr>
          <a:xfrm>
            <a:off x="1037771" y="1732561"/>
            <a:ext cx="92383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/>
              <a:t>Locality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Temporal locality (locality in time)</a:t>
            </a:r>
          </a:p>
          <a:p>
            <a:pPr marL="914400" lvl="1" indent="-457200">
              <a:buAutoNum type="arabicPeriod"/>
            </a:pPr>
            <a:r>
              <a:rPr lang="en-US" altLang="zh-TW" sz="2400" dirty="0"/>
              <a:t>Spatial locality (locality in space)</a:t>
            </a:r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457200" indent="-457200">
              <a:buAutoNum type="arabicPeriod"/>
            </a:pP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4" name="圖片 3" descr="一張含有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BCB5025-8522-A390-C6E4-2669BBC13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0810" y="416105"/>
            <a:ext cx="3801005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8995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FB06C-6B3E-B60A-FA5A-A32C58CAC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3599BD-7266-2ADC-1A0E-A62DD2D17BF2}"/>
              </a:ext>
            </a:extLst>
          </p:cNvPr>
          <p:cNvSpPr txBox="1"/>
          <p:nvPr/>
        </p:nvSpPr>
        <p:spPr>
          <a:xfrm>
            <a:off x="1037771" y="592436"/>
            <a:ext cx="101164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dirty="0"/>
              <a:t>CO – memory hierarchy</a:t>
            </a:r>
            <a:endParaRPr lang="zh-TW" altLang="en-US" sz="4800" dirty="0"/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B54DDCCC-EFFD-4FCB-5253-CFA6B715AB35}"/>
              </a:ext>
            </a:extLst>
          </p:cNvPr>
          <p:cNvSpPr txBox="1"/>
          <p:nvPr/>
        </p:nvSpPr>
        <p:spPr>
          <a:xfrm>
            <a:off x="1037771" y="1732561"/>
            <a:ext cx="923838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altLang="zh-TW" sz="2400" dirty="0" err="1"/>
              <a:t>fd</a:t>
            </a:r>
            <a:endParaRPr lang="en-US" altLang="zh-TW" sz="2400" dirty="0"/>
          </a:p>
          <a:p>
            <a:pPr marL="914400" lvl="1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dirty="0"/>
          </a:p>
          <a:p>
            <a:pPr marL="1371600" lvl="2" indent="-457200">
              <a:buAutoNum type="arabicPeriod"/>
            </a:pPr>
            <a:endParaRPr lang="en-US" altLang="zh-TW" sz="2400" b="0" dirty="0"/>
          </a:p>
          <a:p>
            <a:pPr marL="1371600" lvl="2" indent="-457200">
              <a:buAutoNum type="arabicPeriod"/>
            </a:pPr>
            <a:endParaRPr lang="zh-TW" altLang="en-US" sz="2400" dirty="0"/>
          </a:p>
        </p:txBody>
      </p:sp>
      <p:pic>
        <p:nvPicPr>
          <p:cNvPr id="5" name="圖片 4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46CEF69E-B786-10DC-5B2B-E49B8B359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771" y="2702057"/>
            <a:ext cx="7021286" cy="3869458"/>
          </a:xfrm>
          <a:prstGeom prst="rect">
            <a:avLst/>
          </a:prstGeom>
        </p:spPr>
      </p:pic>
      <p:pic>
        <p:nvPicPr>
          <p:cNvPr id="7" name="圖片 6" descr="一張含有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9E28F7EA-4E74-F01B-64B3-95F3D7381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33" y="2787029"/>
            <a:ext cx="3553145" cy="330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05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3187</TotalTime>
  <Words>522</Words>
  <Application>Microsoft Office PowerPoint</Application>
  <PresentationFormat>寬螢幕</PresentationFormat>
  <Paragraphs>181</Paragraphs>
  <Slides>31</Slides>
  <Notes>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Office Theme</vt:lpstr>
      <vt:lpstr>考研</vt:lpstr>
      <vt:lpstr>LA</vt:lpstr>
      <vt:lpstr>PowerPoint 簡報</vt:lpstr>
      <vt:lpstr>PowerPoint 簡報</vt:lpstr>
      <vt:lpstr>PowerPoint 簡報</vt:lpstr>
      <vt:lpstr>DM</vt:lpstr>
      <vt:lpstr>PowerPoint 簡報</vt:lpstr>
      <vt:lpstr>PowerPoint 簡報</vt:lpstr>
      <vt:lpstr>PowerPoint 簡報</vt:lpstr>
      <vt:lpstr>AM</vt:lpstr>
      <vt:lpstr>PowerPoint 簡報</vt:lpstr>
      <vt:lpstr>PowerPoint 簡報</vt:lpstr>
      <vt:lpstr>PowerPoint 簡報</vt:lpstr>
      <vt:lpstr>DS</vt:lpstr>
      <vt:lpstr>OS</vt:lpstr>
      <vt:lpstr>CO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崇安 李</dc:creator>
  <cp:lastModifiedBy>崇安 李</cp:lastModifiedBy>
  <cp:revision>15</cp:revision>
  <dcterms:created xsi:type="dcterms:W3CDTF">2026-01-21T09:20:36Z</dcterms:created>
  <dcterms:modified xsi:type="dcterms:W3CDTF">2026-02-02T08:19:32Z</dcterms:modified>
</cp:coreProperties>
</file>