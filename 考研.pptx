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notesMasterIdLst>
    <p:notesMasterId r:id="rId28"/>
  </p:notesMasterIdLst>
  <p:sldIdLst>
    <p:sldId id="256" r:id="rId2"/>
    <p:sldId id="271" r:id="rId3"/>
    <p:sldId id="257" r:id="rId4"/>
    <p:sldId id="264" r:id="rId5"/>
    <p:sldId id="263" r:id="rId6"/>
    <p:sldId id="272" r:id="rId7"/>
    <p:sldId id="267" r:id="rId8"/>
    <p:sldId id="265" r:id="rId9"/>
    <p:sldId id="266" r:id="rId10"/>
    <p:sldId id="274" r:id="rId11"/>
    <p:sldId id="268" r:id="rId12"/>
    <p:sldId id="269" r:id="rId13"/>
    <p:sldId id="270" r:id="rId14"/>
    <p:sldId id="275" r:id="rId15"/>
    <p:sldId id="276" r:id="rId16"/>
    <p:sldId id="273" r:id="rId17"/>
    <p:sldId id="277" r:id="rId18"/>
    <p:sldId id="278" r:id="rId19"/>
    <p:sldId id="279" r:id="rId20"/>
    <p:sldId id="280" r:id="rId21"/>
    <p:sldId id="281" r:id="rId22"/>
    <p:sldId id="282" r:id="rId23"/>
    <p:sldId id="283" r:id="rId24"/>
    <p:sldId id="284" r:id="rId25"/>
    <p:sldId id="285" r:id="rId26"/>
    <p:sldId id="286" r:id="rId2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>
        <p:scale>
          <a:sx n="66" d="100"/>
          <a:sy n="66" d="100"/>
        </p:scale>
        <p:origin x="668" y="-2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7E5D595-80C0-4B28-BA03-ED45ADACC533}" type="datetimeFigureOut">
              <a:rPr lang="zh-TW" altLang="en-US" smtClean="0"/>
              <a:t>2026/1/30</a:t>
            </a:fld>
            <a:endParaRPr lang="zh-TW" altLang="en-US"/>
          </a:p>
        </p:txBody>
      </p:sp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281C8EC-84E3-4AA0-83D2-C262AD0C7E35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8725850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281C8EC-84E3-4AA0-83D2-C262AD0C7E35}" type="slidenum">
              <a:rPr lang="zh-TW" altLang="en-US" smtClean="0"/>
              <a:t>24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5983715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92CC74-856F-F0CB-F4C0-BCBFCED968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530E3E27-44A2-CD9D-43D8-4CDDB8F3A43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32C2539D-5942-13C1-18E6-EABAC8BA335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92D34D7B-0416-4284-1366-CAC2803481D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281C8EC-84E3-4AA0-83D2-C262AD0C7E35}" type="slidenum">
              <a:rPr lang="zh-TW" altLang="en-US" smtClean="0"/>
              <a:t>25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0879418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399D78-E40C-297C-C5CC-7EFA0D3760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68534B62-3CAA-A0AB-379D-AF814DAB961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0A9F7E3C-B175-D1DA-591B-3AA43122961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20D57664-3B35-EB96-664D-8059A6B8250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281C8EC-84E3-4AA0-83D2-C262AD0C7E35}" type="slidenum">
              <a:rPr lang="zh-TW" altLang="en-US" smtClean="0"/>
              <a:t>26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1481197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按一下以編輯母片子標題樣式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ED38C7-CC33-4A9A-AE74-C01421608BED}" type="datetimeFigureOut">
              <a:rPr lang="zh-TW" altLang="en-US" smtClean="0"/>
              <a:t>2026/1/30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8774FC-7A17-4E53-8C04-9495E1D7C86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53734032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ED38C7-CC33-4A9A-AE74-C01421608BED}" type="datetimeFigureOut">
              <a:rPr lang="zh-TW" altLang="en-US" smtClean="0"/>
              <a:t>2026/1/30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8774FC-7A17-4E53-8C04-9495E1D7C86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86862615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ED38C7-CC33-4A9A-AE74-C01421608BED}" type="datetimeFigureOut">
              <a:rPr lang="zh-TW" altLang="en-US" smtClean="0"/>
              <a:t>2026/1/30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8774FC-7A17-4E53-8C04-9495E1D7C86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1069551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ED38C7-CC33-4A9A-AE74-C01421608BED}" type="datetimeFigureOut">
              <a:rPr lang="zh-TW" altLang="en-US" smtClean="0"/>
              <a:t>2026/1/30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8774FC-7A17-4E53-8C04-9495E1D7C86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3290130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ED38C7-CC33-4A9A-AE74-C01421608BED}" type="datetimeFigureOut">
              <a:rPr lang="zh-TW" altLang="en-US" smtClean="0"/>
              <a:t>2026/1/30</a:t>
            </a:fld>
            <a:endParaRPr lang="zh-TW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8774FC-7A17-4E53-8C04-9495E1D7C86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174214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ED38C7-CC33-4A9A-AE74-C01421608BED}" type="datetimeFigureOut">
              <a:rPr lang="zh-TW" altLang="en-US" smtClean="0"/>
              <a:t>2026/1/30</a:t>
            </a:fld>
            <a:endParaRPr lang="zh-TW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8774FC-7A17-4E53-8C04-9495E1D7C86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83837966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ED38C7-CC33-4A9A-AE74-C01421608BED}" type="datetimeFigureOut">
              <a:rPr lang="zh-TW" altLang="en-US" smtClean="0"/>
              <a:t>2026/1/30</a:t>
            </a:fld>
            <a:endParaRPr lang="zh-TW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8774FC-7A17-4E53-8C04-9495E1D7C86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7040641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ED38C7-CC33-4A9A-AE74-C01421608BED}" type="datetimeFigureOut">
              <a:rPr lang="zh-TW" altLang="en-US" smtClean="0"/>
              <a:t>2026/1/30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8774FC-7A17-4E53-8C04-9495E1D7C86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6603004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zh-TW" altLang="en-US"/>
              <a:t>按一下圖示以新增圖片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ED38C7-CC33-4A9A-AE74-C01421608BED}" type="datetimeFigureOut">
              <a:rPr lang="zh-TW" altLang="en-US" smtClean="0"/>
              <a:t>2026/1/30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8774FC-7A17-4E53-8C04-9495E1D7C86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46232046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ED38C7-CC33-4A9A-AE74-C01421608BED}" type="datetimeFigureOut">
              <a:rPr lang="zh-TW" altLang="en-US" smtClean="0"/>
              <a:t>2026/1/30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8774FC-7A17-4E53-8C04-9495E1D7C86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2604431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ED38C7-CC33-4A9A-AE74-C01421608BED}" type="datetimeFigureOut">
              <a:rPr lang="zh-TW" altLang="en-US" smtClean="0"/>
              <a:t>2026/1/30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8774FC-7A17-4E53-8C04-9495E1D7C86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07055388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7ED38C7-CC33-4A9A-AE74-C01421608BED}" type="datetimeFigureOut">
              <a:rPr lang="zh-TW" altLang="en-US" smtClean="0"/>
              <a:t>2026/1/30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48774FC-7A17-4E53-8C04-9495E1D7C86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1898314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BBB9BB-D2D4-A23F-ED8D-A61C25AC66B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zh-TW" altLang="en-US" dirty="0"/>
              <a:t>考研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34D59CC-426B-1A7F-D9C8-F3F6F69FE1E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51756060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C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9D8FD69-50C2-186D-E10D-C83563B4A3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>
                <a:solidFill>
                  <a:schemeClr val="bg1"/>
                </a:solidFill>
              </a:rPr>
              <a:t>LA</a:t>
            </a:r>
            <a:endParaRPr lang="zh-TW" altLang="en-US" dirty="0">
              <a:solidFill>
                <a:schemeClr val="bg1"/>
              </a:solidFill>
            </a:endParaRP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7C923D1B-6572-7248-C4F6-AE1B9BAF262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3649249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DACA335-0AFC-EA0E-C20B-02C9E8EAE267}"/>
              </a:ext>
            </a:extLst>
          </p:cNvPr>
          <p:cNvSpPr txBox="1"/>
          <p:nvPr/>
        </p:nvSpPr>
        <p:spPr>
          <a:xfrm>
            <a:off x="889000" y="702734"/>
            <a:ext cx="159173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4800" dirty="0"/>
              <a:t>LA</a:t>
            </a:r>
            <a:endParaRPr lang="zh-TW" altLang="en-US" sz="48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9A9ABC6C-6F32-262C-38A9-8839DABEBBA9}"/>
                  </a:ext>
                </a:extLst>
              </p:cNvPr>
              <p:cNvSpPr txBox="1"/>
              <p:nvPr/>
            </p:nvSpPr>
            <p:spPr>
              <a:xfrm>
                <a:off x="1079900" y="2183421"/>
                <a:ext cx="9238381" cy="230832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457200" indent="-457200">
                  <a:buAutoNum type="arabicPeriod"/>
                </a:pPr>
                <a:r>
                  <a:rPr lang="zh-TW" altLang="en-US" sz="2400" dirty="0"/>
                  <a:t>解 </a:t>
                </a:r>
                <a:r>
                  <a:rPr lang="en-US" altLang="zh-TW" sz="2400" dirty="0"/>
                  <a:t>system of linear equation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TW" sz="2400" i="1" dirty="0">
                        <a:latin typeface="Cambria Math" panose="02040503050406030204" pitchFamily="18" charset="0"/>
                      </a:rPr>
                      <m:t>A</m:t>
                    </m:r>
                    <m:r>
                      <a:rPr lang="en-US" altLang="zh-TW" sz="2400" b="0" i="1" dirty="0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altLang="zh-TW" sz="2400" b="0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zh-TW" sz="2400" b="0" i="1" dirty="0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altLang="zh-TW" sz="2400" b="0" i="0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zh-TW" altLang="en-US" sz="2400" i="1" dirty="0">
                        <a:latin typeface="Cambria Math" panose="02040503050406030204" pitchFamily="18" charset="0"/>
                      </a:rPr>
                      <m:t>求</m:t>
                    </m:r>
                  </m:oMath>
                </a14:m>
                <a:r>
                  <a:rPr lang="zh-TW" altLang="en-US" sz="2400" dirty="0"/>
                  <a:t> </a:t>
                </a:r>
                <a:r>
                  <a:rPr lang="en-US" altLang="zh-TW" sz="2400" dirty="0"/>
                  <a:t>x , </a:t>
                </a:r>
                <a14:m>
                  <m:oMath xmlns:m="http://schemas.openxmlformats.org/officeDocument/2006/math">
                    <m:r>
                      <a:rPr lang="en-US" altLang="zh-TW" sz="2400" b="0" i="1" dirty="0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altLang="zh-TW" sz="2400" b="0" i="1" dirty="0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altLang="zh-TW" sz="240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altLang="zh-TW" sz="2400" i="1" dirty="0">
                            <a:latin typeface="Cambria Math" panose="02040503050406030204" pitchFamily="18" charset="0"/>
                          </a:rPr>
                          <m:t>A</m:t>
                        </m:r>
                      </m:e>
                      <m:sup>
                        <m:r>
                          <a:rPr lang="en-US" altLang="zh-TW" sz="2400" b="0" i="1" dirty="0" smtClean="0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  <m:r>
                      <a:rPr lang="en-US" altLang="zh-TW" sz="2400" b="0" i="1" dirty="0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altLang="zh-TW" sz="2400" b="0" i="0" dirty="0" smtClean="0">
                        <a:latin typeface="Cambria Math" panose="02040503050406030204" pitchFamily="18" charset="0"/>
                      </a:rPr>
                      <m:t> , </m:t>
                    </m:r>
                  </m:oMath>
                </a14:m>
                <a:r>
                  <a:rPr lang="en-US" altLang="zh-TW" sz="2400" dirty="0"/>
                  <a:t>inverse matrix</a:t>
                </a:r>
              </a:p>
              <a:p>
                <a:pPr marL="457200" indent="-457200">
                  <a:buAutoNum type="arabicPeriod"/>
                </a:pPr>
                <a:r>
                  <a:rPr lang="zh-TW" altLang="en-US" sz="2400" dirty="0"/>
                  <a:t>不是所有的 </a:t>
                </a:r>
                <a:r>
                  <a:rPr lang="en-US" altLang="zh-TW" sz="2400" dirty="0"/>
                  <a:t>matrix </a:t>
                </a:r>
                <a:r>
                  <a:rPr lang="zh-TW" altLang="en-US" sz="2400" dirty="0"/>
                  <a:t>都有 </a:t>
                </a:r>
                <a:r>
                  <a:rPr lang="en-US" altLang="zh-TW" sz="2400" dirty="0"/>
                  <a:t>inverse matrix, </a:t>
                </a:r>
                <a:r>
                  <a:rPr lang="zh-TW" altLang="en-US" sz="2400" dirty="0"/>
                  <a:t>那怎麼判斷</a:t>
                </a:r>
                <a:r>
                  <a:rPr lang="en-US" altLang="zh-TW" sz="2400" dirty="0"/>
                  <a:t>, </a:t>
                </a:r>
                <a:r>
                  <a:rPr lang="zh-TW" altLang="en-US" sz="2400" dirty="0"/>
                  <a:t>用 </a:t>
                </a:r>
                <a:r>
                  <a:rPr lang="en-US" altLang="zh-TW" sz="2400" dirty="0"/>
                  <a:t>determine </a:t>
                </a:r>
                <a:r>
                  <a:rPr lang="zh-TW" altLang="en-US" sz="2400" dirty="0"/>
                  <a:t>判斷</a:t>
                </a:r>
                <a:endParaRPr lang="en-US" altLang="zh-TW" sz="2400" dirty="0"/>
              </a:p>
              <a:p>
                <a:pPr marL="914400" lvl="1" indent="-457200">
                  <a:buAutoNum type="arabicPeriod"/>
                </a:pPr>
                <a:r>
                  <a:rPr lang="en-US" altLang="zh-TW" sz="2400" dirty="0"/>
                  <a:t>Consistent (unique or infinite) :  </a:t>
                </a:r>
              </a:p>
              <a:p>
                <a:pPr marL="914400" lvl="1" indent="-457200">
                  <a:buAutoNum type="arabicPeriod"/>
                </a:pPr>
                <a:r>
                  <a:rPr lang="en-US" altLang="zh-TW" sz="2400" dirty="0"/>
                  <a:t>In-consistent :</a:t>
                </a:r>
                <a:r>
                  <a:rPr lang="zh-TW" altLang="en-US" sz="2400" dirty="0"/>
                  <a:t> 近似解 </a:t>
                </a:r>
                <a:r>
                  <a:rPr lang="en-US" altLang="zh-TW" sz="2400" dirty="0"/>
                  <a:t>least square problem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zh-TW" sz="2400" b="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altLang="zh-TW" sz="2400" i="1" dirty="0" smtClean="0">
                            <a:latin typeface="Cambria Math" panose="02040503050406030204" pitchFamily="18" charset="0"/>
                          </a:rPr>
                          <m:t>A</m:t>
                        </m:r>
                      </m:e>
                      <m:sup>
                        <m:r>
                          <a:rPr lang="en-US" altLang="zh-TW" sz="2400" b="0" i="1" dirty="0" smtClean="0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en-US" altLang="zh-TW" sz="2400" b="0" i="1" dirty="0" smtClean="0">
                        <a:latin typeface="Cambria Math" panose="02040503050406030204" pitchFamily="18" charset="0"/>
                      </a:rPr>
                      <m:t>𝐴𝑥</m:t>
                    </m:r>
                    <m:r>
                      <a:rPr lang="en-US" altLang="zh-TW" sz="2400" b="0" i="1" dirty="0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altLang="zh-TW" sz="2400" b="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TW" sz="2400" b="0" i="1" dirty="0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p>
                        <m:r>
                          <a:rPr lang="en-US" altLang="zh-TW" sz="2400" b="0" i="1" dirty="0" smtClean="0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en-US" altLang="zh-TW" sz="2400" b="0" i="1" dirty="0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altLang="zh-TW" sz="2400" b="0" i="0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zh-TW" altLang="en-US" sz="24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9A9ABC6C-6F32-262C-38A9-8839DABEBBA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9900" y="2183421"/>
                <a:ext cx="9238381" cy="2308324"/>
              </a:xfrm>
              <a:prstGeom prst="rect">
                <a:avLst/>
              </a:prstGeom>
              <a:blipFill>
                <a:blip r:embed="rId2"/>
                <a:stretch>
                  <a:fillRect l="-1055" t="-2375" r="-858" b="-554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3599136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71B4CD-14D9-59FA-7243-23B80CED65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0175AE6-C51D-A9A8-AA13-4C04652E5855}"/>
              </a:ext>
            </a:extLst>
          </p:cNvPr>
          <p:cNvSpPr txBox="1"/>
          <p:nvPr/>
        </p:nvSpPr>
        <p:spPr>
          <a:xfrm>
            <a:off x="888999" y="702734"/>
            <a:ext cx="552142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4800" dirty="0"/>
              <a:t>LA - decomposition</a:t>
            </a:r>
            <a:endParaRPr lang="zh-TW" altLang="en-US" sz="48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A25AAAB-4FA5-50CA-CB97-AD776D75ACBA}"/>
              </a:ext>
            </a:extLst>
          </p:cNvPr>
          <p:cNvSpPr txBox="1"/>
          <p:nvPr/>
        </p:nvSpPr>
        <p:spPr>
          <a:xfrm>
            <a:off x="1079900" y="2183421"/>
            <a:ext cx="9238381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AutoNum type="arabicPeriod"/>
            </a:pPr>
            <a:r>
              <a:rPr lang="en-US" altLang="zh-TW" sz="2400" dirty="0"/>
              <a:t>LU factorization</a:t>
            </a:r>
          </a:p>
          <a:p>
            <a:pPr marL="914400" lvl="1" indent="-457200">
              <a:buAutoNum type="arabicPeriod"/>
            </a:pPr>
            <a:r>
              <a:rPr lang="en-US" altLang="zh-TW" sz="2400" dirty="0"/>
              <a:t>Only using row operation 3, find U</a:t>
            </a:r>
          </a:p>
          <a:p>
            <a:pPr marL="914400" lvl="1" indent="-457200">
              <a:buAutoNum type="arabicPeriod"/>
            </a:pPr>
            <a:r>
              <a:rPr lang="en-US" altLang="zh-TW" sz="2400" dirty="0"/>
              <a:t>Then find L</a:t>
            </a:r>
          </a:p>
          <a:p>
            <a:pPr marL="457200" indent="-457200">
              <a:buAutoNum type="arabicPeriod"/>
            </a:pPr>
            <a:r>
              <a:rPr lang="en-US" altLang="zh-TW" sz="2400" dirty="0"/>
              <a:t>QR (Gram-Schmidt process)</a:t>
            </a:r>
          </a:p>
          <a:p>
            <a:pPr marL="914400" lvl="1" indent="-457200">
              <a:buAutoNum type="arabicPeriod"/>
            </a:pPr>
            <a:r>
              <a:rPr lang="en-US" altLang="zh-TW" sz="2400" dirty="0" err="1"/>
              <a:t>fdfd</a:t>
            </a:r>
            <a:endParaRPr lang="en-US" altLang="zh-TW" sz="2400" dirty="0"/>
          </a:p>
          <a:p>
            <a:pPr marL="457200" indent="-457200">
              <a:buAutoNum type="arabicPeriod"/>
            </a:pPr>
            <a:r>
              <a:rPr lang="en-US" altLang="zh-TW" sz="2400" dirty="0"/>
              <a:t>SVD</a:t>
            </a:r>
            <a:endParaRPr lang="zh-TW" altLang="en-US" sz="2400" dirty="0"/>
          </a:p>
        </p:txBody>
      </p:sp>
    </p:spTree>
    <p:extLst>
      <p:ext uri="{BB962C8B-B14F-4D97-AF65-F5344CB8AC3E}">
        <p14:creationId xmlns:p14="http://schemas.microsoft.com/office/powerpoint/2010/main" val="93166882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FCB072-5D1F-E826-2976-3FD3941971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3EE7364-F4C6-D65C-A248-AB052AB09217}"/>
              </a:ext>
            </a:extLst>
          </p:cNvPr>
          <p:cNvSpPr txBox="1"/>
          <p:nvPr/>
        </p:nvSpPr>
        <p:spPr>
          <a:xfrm>
            <a:off x="889000" y="702734"/>
            <a:ext cx="298035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4800" dirty="0"/>
              <a:t>LA – </a:t>
            </a:r>
            <a:r>
              <a:rPr lang="zh-TW" altLang="en-US" sz="4800" dirty="0"/>
              <a:t>特例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71D537B7-226C-B680-3C59-A7F07C145C20}"/>
                  </a:ext>
                </a:extLst>
              </p:cNvPr>
              <p:cNvSpPr txBox="1"/>
              <p:nvPr/>
            </p:nvSpPr>
            <p:spPr>
              <a:xfrm>
                <a:off x="1079900" y="2183421"/>
                <a:ext cx="9238381" cy="378379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457200" indent="-457200">
                  <a:buAutoNum type="arabicPeriod"/>
                </a:pPr>
                <a:r>
                  <a:rPr lang="en-US" altLang="zh-TW" sz="2400" dirty="0"/>
                  <a:t>Eigen-value &amp; eigen-vector</a:t>
                </a:r>
              </a:p>
              <a:p>
                <a:pPr marL="914400" lvl="1" indent="-457200">
                  <a:buAutoNum type="arabicPeriod"/>
                </a:pPr>
                <a:r>
                  <a:rPr lang="en-US" altLang="zh-TW" sz="2400" dirty="0"/>
                  <a:t>Definition 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TW" sz="2400" i="1" dirty="0" smtClean="0">
                        <a:latin typeface="Cambria Math" panose="02040503050406030204" pitchFamily="18" charset="0"/>
                      </a:rPr>
                      <m:t>A</m:t>
                    </m:r>
                    <m:r>
                      <a:rPr lang="en-US" altLang="zh-TW" sz="2400" b="0" i="1" dirty="0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altLang="zh-TW" sz="2400" b="0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l-GR" altLang="zh-TW" sz="2400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λ</m:t>
                    </m:r>
                    <m:r>
                      <m:rPr>
                        <m:sty m:val="p"/>
                      </m:rPr>
                      <a:rPr lang="en-US" altLang="zh-TW" sz="2400" b="0" i="0" dirty="0" smtClean="0">
                        <a:latin typeface="Cambria Math" panose="02040503050406030204" pitchFamily="18" charset="0"/>
                      </a:rPr>
                      <m:t>x</m:t>
                    </m:r>
                    <m:r>
                      <a:rPr lang="en-US" altLang="zh-TW" sz="2400" b="0" i="0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altLang="zh-TW" sz="2400" dirty="0"/>
              </a:p>
              <a:p>
                <a:pPr marL="914400" lvl="1" indent="-457200">
                  <a:buAutoNum type="arabicPeriod"/>
                </a:pPr>
                <a:r>
                  <a:rPr lang="en-US" altLang="zh-TW" sz="2400" dirty="0"/>
                  <a:t>How to find eigen-value &amp; eigen-vector ?</a:t>
                </a:r>
              </a:p>
              <a:p>
                <a:pPr marL="1371600" lvl="2" indent="-457200">
                  <a:buAutoNum type="arabicPeriod"/>
                </a:pPr>
                <a14:m>
                  <m:oMath xmlns:m="http://schemas.openxmlformats.org/officeDocument/2006/math">
                    <m:func>
                      <m:funcPr>
                        <m:ctrlP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nor/>
                          </m:rPr>
                          <a:rPr lang="en-US" altLang="zh-TW" sz="2400" dirty="0" smtClean="0"/>
                          <m:t>find</m:t>
                        </m:r>
                        <m:r>
                          <m:rPr>
                            <m:nor/>
                          </m:rPr>
                          <a:rPr lang="en-US" altLang="zh-TW" sz="2400" dirty="0" smtClean="0"/>
                          <m:t> </m:t>
                        </m:r>
                        <m:r>
                          <m:rPr>
                            <m:nor/>
                          </m:rPr>
                          <a:rPr lang="en-US" altLang="zh-TW" sz="2400" dirty="0" smtClean="0"/>
                          <m:t>eigen</m:t>
                        </m:r>
                        <m:r>
                          <m:rPr>
                            <m:nor/>
                          </m:rPr>
                          <a:rPr lang="en-US" altLang="zh-TW" sz="2400" dirty="0" smtClean="0"/>
                          <m:t> </m:t>
                        </m:r>
                        <m:r>
                          <m:rPr>
                            <m:nor/>
                          </m:rPr>
                          <a:rPr lang="en-US" altLang="zh-TW" sz="2400" dirty="0" smtClean="0"/>
                          <m:t>value</m:t>
                        </m:r>
                        <m:r>
                          <m:rPr>
                            <m:nor/>
                          </m:rPr>
                          <a:rPr lang="en-US" altLang="zh-TW" sz="2400" dirty="0" smtClean="0"/>
                          <m:t> </m:t>
                        </m:r>
                        <m:r>
                          <m:rPr>
                            <m:sty m:val="p"/>
                          </m:rPr>
                          <a:rPr lang="en-US" altLang="zh-TW" sz="2400" b="0" i="0" dirty="0" smtClean="0">
                            <a:latin typeface="Cambria Math" panose="02040503050406030204" pitchFamily="18" charset="0"/>
                          </a:rPr>
                          <m:t>using</m:t>
                        </m:r>
                        <m:r>
                          <a:rPr lang="en-US" altLang="zh-TW" sz="2400" b="0" i="0" dirty="0" smtClean="0">
                            <a:latin typeface="Cambria Math" panose="02040503050406030204" pitchFamily="18" charset="0"/>
                          </a:rPr>
                          <m:t> :</m:t>
                        </m:r>
                        <m:r>
                          <m:rPr>
                            <m:sty m:val="p"/>
                          </m:rPr>
                          <a:rPr lang="en-US" altLang="zh-TW" sz="2400" b="0" i="0" smtClean="0">
                            <a:latin typeface="Cambria Math" panose="02040503050406030204" pitchFamily="18" charset="0"/>
                          </a:rPr>
                          <m:t>det</m:t>
                        </m:r>
                      </m:fName>
                      <m:e>
                        <m:d>
                          <m:dPr>
                            <m:ctrlPr>
                              <a:rPr lang="en-US" altLang="zh-TW" sz="24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TW" sz="2400" b="0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  <m:r>
                              <a:rPr lang="en-US" altLang="zh-TW" sz="2400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m:rPr>
                                <m:sty m:val="p"/>
                              </m:rPr>
                              <a:rPr lang="el-GR" altLang="zh-TW" sz="2400" b="0" i="1" dirty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λ</m:t>
                            </m:r>
                            <m:r>
                              <m:rPr>
                                <m:sty m:val="p"/>
                              </m:rPr>
                              <a:rPr lang="en-US" altLang="zh-TW" sz="2400" b="0" i="0" dirty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I</m:t>
                            </m:r>
                          </m:e>
                        </m:d>
                      </m:e>
                    </m:func>
                    <m:r>
                      <a:rPr lang="en-US" altLang="zh-TW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</m:t>
                    </m:r>
                  </m:oMath>
                </a14:m>
                <a:endParaRPr lang="en-US" altLang="zh-TW" sz="2400" b="0" dirty="0">
                  <a:ea typeface="Cambria Math" panose="02040503050406030204" pitchFamily="18" charset="0"/>
                </a:endParaRPr>
              </a:p>
              <a:p>
                <a:pPr marL="1371600" lvl="2" indent="-457200">
                  <a:buAutoNum type="arabicPeriod"/>
                </a:pPr>
                <a:r>
                  <a:rPr lang="en-US" altLang="zh-TW" sz="2400" dirty="0"/>
                  <a:t>Find corresponding eigen vector using :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altLang="zh-TW" sz="24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altLang="zh-TW" sz="2400" b="0" i="0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A</m:t>
                        </m:r>
                        <m:r>
                          <a:rPr lang="en-US" altLang="zh-TW" sz="2400" b="0" i="0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r>
                          <m:rPr>
                            <m:sty m:val="p"/>
                          </m:rPr>
                          <a:rPr lang="el-GR" altLang="zh-TW" sz="24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λ</m:t>
                        </m:r>
                      </m:e>
                    </m:d>
                    <m:r>
                      <m:rPr>
                        <m:sty m:val="p"/>
                      </m:rPr>
                      <a:rPr lang="en-US" altLang="zh-TW" sz="2400" b="0" i="0" dirty="0" smtClean="0">
                        <a:latin typeface="Cambria Math" panose="02040503050406030204" pitchFamily="18" charset="0"/>
                      </a:rPr>
                      <m:t>x</m:t>
                    </m:r>
                    <m:r>
                      <a:rPr lang="en-US" altLang="zh-TW" sz="2400" b="0" i="0" dirty="0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en-US" altLang="zh-TW" sz="2400" dirty="0"/>
              </a:p>
              <a:p>
                <a:pPr marL="914400" lvl="1" indent="-457200">
                  <a:buAutoNum type="arabicPeriod"/>
                </a:pPr>
                <a:r>
                  <a:rPr lang="en-US" altLang="zh-TW" sz="2400" dirty="0" err="1"/>
                  <a:t>Diagonalizalble</a:t>
                </a:r>
                <a:r>
                  <a:rPr lang="en-US" altLang="zh-TW" sz="2400" dirty="0"/>
                  <a:t> </a:t>
                </a:r>
                <a:endParaRPr lang="en-US" altLang="zh-TW" sz="2400" b="0" i="0" dirty="0">
                  <a:latin typeface="Cambria Math" panose="02040503050406030204" pitchFamily="18" charset="0"/>
                </a:endParaRPr>
              </a:p>
              <a:p>
                <a:pPr marL="1371600" lvl="2" indent="-457200">
                  <a:buAutoNum type="arabicPeriod"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TW" sz="2400" b="0" i="0" dirty="0" smtClean="0">
                        <a:latin typeface="Cambria Math" panose="02040503050406030204" pitchFamily="18" charset="0"/>
                      </a:rPr>
                      <m:t>X</m:t>
                    </m:r>
                    <m:r>
                      <m:rPr>
                        <m:sty m:val="p"/>
                      </m:rPr>
                      <a:rPr lang="en-US" altLang="zh-TW" sz="2400" i="1" dirty="0" smtClean="0">
                        <a:latin typeface="Cambria Math" panose="02040503050406030204" pitchFamily="18" charset="0"/>
                      </a:rPr>
                      <m:t>A</m:t>
                    </m:r>
                    <m:sSup>
                      <m:sSupPr>
                        <m:ctrlPr>
                          <a:rPr lang="en-US" altLang="zh-TW" sz="2400" b="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TW" sz="2400" b="0" i="1" dirty="0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p>
                        <m:r>
                          <a:rPr lang="en-US" altLang="zh-TW" sz="2400" b="0" i="1" dirty="0" smtClean="0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  <m:r>
                      <a:rPr lang="en-US" altLang="zh-TW" sz="2400" b="0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altLang="zh-TW" sz="2400" b="0" i="0" dirty="0" smtClean="0">
                        <a:latin typeface="Cambria Math" panose="02040503050406030204" pitchFamily="18" charset="0"/>
                      </a:rPr>
                      <m:t>D</m:t>
                    </m:r>
                    <m:r>
                      <a:rPr lang="en-US" altLang="zh-TW" sz="2400" b="0" i="0" dirty="0" smtClean="0">
                        <a:latin typeface="Cambria Math" panose="02040503050406030204" pitchFamily="18" charset="0"/>
                      </a:rPr>
                      <m:t> , </m:t>
                    </m:r>
                    <m:r>
                      <m:rPr>
                        <m:sty m:val="p"/>
                      </m:rPr>
                      <a:rPr lang="en-US" altLang="zh-TW" sz="2400" b="0" i="0" dirty="0" smtClean="0">
                        <a:latin typeface="Cambria Math" panose="02040503050406030204" pitchFamily="18" charset="0"/>
                      </a:rPr>
                      <m:t>X</m:t>
                    </m:r>
                    <m:r>
                      <a:rPr lang="en-US" altLang="zh-TW" sz="2400" b="0" i="0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altLang="zh-TW" sz="2400" b="0" i="0" dirty="0" smtClean="0">
                        <a:latin typeface="Cambria Math" panose="02040503050406030204" pitchFamily="18" charset="0"/>
                      </a:rPr>
                      <m:t>is</m:t>
                    </m:r>
                    <m:r>
                      <a:rPr lang="en-US" altLang="zh-TW" sz="2400" b="0" i="0" dirty="0" smtClean="0">
                        <a:latin typeface="Cambria Math" panose="02040503050406030204" pitchFamily="18" charset="0"/>
                      </a:rPr>
                      <m:t> ? </m:t>
                    </m:r>
                    <m:r>
                      <m:rPr>
                        <m:sty m:val="p"/>
                      </m:rPr>
                      <a:rPr lang="en-US" altLang="zh-TW" sz="2400" b="0" i="0" dirty="0" smtClean="0">
                        <a:latin typeface="Cambria Math" panose="02040503050406030204" pitchFamily="18" charset="0"/>
                      </a:rPr>
                      <m:t>matrix</m:t>
                    </m:r>
                    <m:d>
                      <m:dPr>
                        <m:ctrlPr>
                          <a:rPr lang="en-US" altLang="zh-TW" sz="2400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altLang="zh-TW" sz="2400" b="0" i="0" dirty="0" smtClean="0">
                            <a:latin typeface="Cambria Math" panose="02040503050406030204" pitchFamily="18" charset="0"/>
                          </a:rPr>
                          <m:t>span</m:t>
                        </m:r>
                        <m:r>
                          <a:rPr lang="en-US" altLang="zh-TW" sz="2400" b="0" i="0" dirty="0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altLang="zh-TW" sz="2400" b="0" i="0" dirty="0" smtClean="0">
                            <a:latin typeface="Cambria Math" panose="02040503050406030204" pitchFamily="18" charset="0"/>
                          </a:rPr>
                          <m:t>of</m:t>
                        </m:r>
                        <m:r>
                          <a:rPr lang="en-US" altLang="zh-TW" sz="2400" b="0" i="0" dirty="0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altLang="zh-TW" sz="2400" b="0" i="0" dirty="0" smtClean="0">
                            <a:latin typeface="Cambria Math" panose="02040503050406030204" pitchFamily="18" charset="0"/>
                          </a:rPr>
                          <m:t>eigen</m:t>
                        </m:r>
                        <m:r>
                          <a:rPr lang="en-US" altLang="zh-TW" sz="2400" b="0" i="0" dirty="0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altLang="zh-TW" sz="2400" b="0" i="0" dirty="0" smtClean="0">
                            <a:latin typeface="Cambria Math" panose="02040503050406030204" pitchFamily="18" charset="0"/>
                          </a:rPr>
                          <m:t>vector</m:t>
                        </m:r>
                      </m:e>
                    </m:d>
                    <m:r>
                      <a:rPr lang="en-US" altLang="zh-TW" sz="2400" b="0" i="0" dirty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m:rPr>
                        <m:sty m:val="p"/>
                      </m:rPr>
                      <a:rPr lang="en-US" altLang="zh-TW" sz="2400" b="0" i="0" dirty="0" smtClean="0">
                        <a:latin typeface="Cambria Math" panose="02040503050406030204" pitchFamily="18" charset="0"/>
                      </a:rPr>
                      <m:t>D</m:t>
                    </m:r>
                    <m:r>
                      <a:rPr lang="en-US" altLang="zh-TW" sz="2400" b="0" i="0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altLang="zh-TW" sz="2400" b="0" i="0" dirty="0" smtClean="0">
                        <a:latin typeface="Cambria Math" panose="02040503050406030204" pitchFamily="18" charset="0"/>
                      </a:rPr>
                      <m:t>is</m:t>
                    </m:r>
                    <m:r>
                      <a:rPr lang="en-US" altLang="zh-TW" sz="2400" b="0" i="0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altLang="zh-TW" sz="2400" b="0" i="0" dirty="0" smtClean="0">
                        <a:latin typeface="Cambria Math" panose="02040503050406030204" pitchFamily="18" charset="0"/>
                      </a:rPr>
                      <m:t>diagonal</m:t>
                    </m:r>
                    <m:r>
                      <a:rPr lang="en-US" altLang="zh-TW" sz="2400" b="0" i="0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altLang="zh-TW" sz="2400" b="0" i="0" dirty="0" smtClean="0">
                        <a:latin typeface="Cambria Math" panose="02040503050406030204" pitchFamily="18" charset="0"/>
                      </a:rPr>
                      <m:t>matrix</m:t>
                    </m:r>
                    <m:d>
                      <m:dPr>
                        <m:ctrlPr>
                          <a:rPr lang="en-US" altLang="zh-TW" sz="2400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altLang="zh-TW" sz="2400" b="0" i="0" dirty="0" smtClean="0">
                            <a:latin typeface="Cambria Math" panose="02040503050406030204" pitchFamily="18" charset="0"/>
                          </a:rPr>
                          <m:t>eigen</m:t>
                        </m:r>
                        <m:r>
                          <a:rPr lang="en-US" altLang="zh-TW" sz="2400" b="0" i="0" dirty="0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altLang="zh-TW" sz="2400" b="0" i="0" dirty="0" smtClean="0">
                            <a:latin typeface="Cambria Math" panose="02040503050406030204" pitchFamily="18" charset="0"/>
                          </a:rPr>
                          <m:t>value</m:t>
                        </m:r>
                      </m:e>
                    </m:d>
                  </m:oMath>
                </a14:m>
                <a:endParaRPr lang="en-US" altLang="zh-TW" sz="2400" b="0" dirty="0"/>
              </a:p>
              <a:p>
                <a:pPr marL="457200" indent="-457200">
                  <a:buAutoNum type="arabicPeriod"/>
                </a:pPr>
                <a:r>
                  <a:rPr lang="en-US" altLang="zh-TW" sz="2400" b="0" dirty="0" err="1"/>
                  <a:t>fdfd</a:t>
                </a:r>
                <a:endParaRPr lang="en-US" altLang="zh-TW" sz="2400" b="0" dirty="0"/>
              </a:p>
              <a:p>
                <a:pPr marL="1371600" lvl="2" indent="-457200">
                  <a:buAutoNum type="arabicPeriod"/>
                </a:pPr>
                <a:endParaRPr lang="zh-TW" altLang="en-US" sz="24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71D537B7-226C-B680-3C59-A7F07C145C2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9900" y="2183421"/>
                <a:ext cx="9238381" cy="3783793"/>
              </a:xfrm>
              <a:prstGeom prst="rect">
                <a:avLst/>
              </a:prstGeom>
              <a:blipFill>
                <a:blip r:embed="rId2"/>
                <a:stretch>
                  <a:fillRect l="-1055" t="-1449" r="-1642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1182677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4FB7D69-D0FB-314D-4F3C-4804EDD04A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86BE27C-F4B9-5F84-9079-87EA4DEB46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>
                <a:solidFill>
                  <a:schemeClr val="bg1"/>
                </a:solidFill>
              </a:rPr>
              <a:t>DM</a:t>
            </a:r>
            <a:endParaRPr lang="zh-TW" altLang="en-US" dirty="0">
              <a:solidFill>
                <a:schemeClr val="bg1"/>
              </a:solidFill>
            </a:endParaRP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823D1535-80B2-F9A5-A3CF-FBCC0664FF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28422672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B7175C-C9D0-685C-48A1-3DEBBCBCB0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10030BC-EDDE-A907-62CB-8FFC3BA5AFE9}"/>
              </a:ext>
            </a:extLst>
          </p:cNvPr>
          <p:cNvSpPr txBox="1"/>
          <p:nvPr/>
        </p:nvSpPr>
        <p:spPr>
          <a:xfrm>
            <a:off x="889000" y="702734"/>
            <a:ext cx="347124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4800" dirty="0"/>
              <a:t>DM – </a:t>
            </a:r>
            <a:r>
              <a:rPr lang="zh-TW" altLang="en-US" sz="4800" dirty="0"/>
              <a:t>數論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5F366EF-9809-91BD-835F-D5AB5250677B}"/>
              </a:ext>
            </a:extLst>
          </p:cNvPr>
          <p:cNvSpPr txBox="1"/>
          <p:nvPr/>
        </p:nvSpPr>
        <p:spPr>
          <a:xfrm>
            <a:off x="889000" y="1595021"/>
            <a:ext cx="9238381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AutoNum type="arabicPeriod"/>
            </a:pPr>
            <a:r>
              <a:rPr lang="en-US" altLang="zh-TW" sz="2400" dirty="0"/>
              <a:t>Pigeon-hole theorem</a:t>
            </a:r>
          </a:p>
          <a:p>
            <a:pPr marL="457200" indent="-457200">
              <a:buAutoNum type="arabicPeriod"/>
            </a:pPr>
            <a:endParaRPr lang="en-US" altLang="zh-TW" sz="2400" dirty="0"/>
          </a:p>
          <a:p>
            <a:pPr marL="1371600" lvl="2" indent="-457200">
              <a:buAutoNum type="arabicPeriod"/>
            </a:pPr>
            <a:endParaRPr lang="en-US" altLang="zh-TW" sz="2400" dirty="0"/>
          </a:p>
          <a:p>
            <a:pPr marL="914400" lvl="1" indent="-457200">
              <a:buAutoNum type="arabicPeriod"/>
            </a:pPr>
            <a:endParaRPr lang="en-US" altLang="zh-TW" sz="2400" dirty="0"/>
          </a:p>
          <a:p>
            <a:pPr marL="1371600" lvl="2" indent="-457200">
              <a:buAutoNum type="arabicPeriod"/>
            </a:pPr>
            <a:endParaRPr lang="en-US" altLang="zh-TW" sz="2400" dirty="0"/>
          </a:p>
          <a:p>
            <a:pPr marL="1371600" lvl="2" indent="-457200">
              <a:buAutoNum type="arabicPeriod"/>
            </a:pPr>
            <a:endParaRPr lang="en-US" altLang="zh-TW" sz="2400" b="0" dirty="0"/>
          </a:p>
          <a:p>
            <a:pPr marL="1371600" lvl="2" indent="-457200">
              <a:buAutoNum type="arabicPeriod"/>
            </a:pPr>
            <a:endParaRPr lang="zh-TW" altLang="en-US" sz="2400" dirty="0"/>
          </a:p>
        </p:txBody>
      </p:sp>
    </p:spTree>
    <p:extLst>
      <p:ext uri="{BB962C8B-B14F-4D97-AF65-F5344CB8AC3E}">
        <p14:creationId xmlns:p14="http://schemas.microsoft.com/office/powerpoint/2010/main" val="43000332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1DD2B2-81C4-65E3-6FD3-5C3DEDF57D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60ABB9F-AB3A-ECF6-DC1D-E9488CAB5DD2}"/>
              </a:ext>
            </a:extLst>
          </p:cNvPr>
          <p:cNvSpPr txBox="1"/>
          <p:nvPr/>
        </p:nvSpPr>
        <p:spPr>
          <a:xfrm>
            <a:off x="889000" y="702734"/>
            <a:ext cx="347124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4800" dirty="0"/>
              <a:t>DM - graph</a:t>
            </a:r>
            <a:endParaRPr lang="zh-TW" altLang="en-US" sz="48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B037B15-46A4-FF51-1AC5-9B3F59F926FC}"/>
              </a:ext>
            </a:extLst>
          </p:cNvPr>
          <p:cNvSpPr txBox="1"/>
          <p:nvPr/>
        </p:nvSpPr>
        <p:spPr>
          <a:xfrm>
            <a:off x="889000" y="1595021"/>
            <a:ext cx="9238381" cy="67403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AutoNum type="arabicPeriod"/>
            </a:pPr>
            <a:r>
              <a:rPr lang="en-US" altLang="zh-TW" sz="2400" dirty="0"/>
              <a:t>Property</a:t>
            </a:r>
          </a:p>
          <a:p>
            <a:pPr marL="914400" lvl="1" indent="-457200">
              <a:buAutoNum type="arabicPeriod"/>
            </a:pPr>
            <a:r>
              <a:rPr lang="en-US" altLang="zh-TW" sz="2400" dirty="0"/>
              <a:t>Connectivity</a:t>
            </a:r>
          </a:p>
          <a:p>
            <a:pPr marL="1371600" lvl="2" indent="-457200">
              <a:buAutoNum type="arabicPeriod"/>
            </a:pPr>
            <a:r>
              <a:rPr lang="en-US" altLang="zh-TW" sz="2400" dirty="0"/>
              <a:t>Articulation point</a:t>
            </a:r>
          </a:p>
          <a:p>
            <a:pPr marL="1371600" lvl="2" indent="-457200">
              <a:buAutoNum type="arabicPeriod"/>
            </a:pPr>
            <a:r>
              <a:rPr lang="en-US" altLang="zh-TW" sz="2400" dirty="0"/>
              <a:t>DFS/BFS</a:t>
            </a:r>
          </a:p>
          <a:p>
            <a:pPr marL="914400" lvl="1" indent="-457200">
              <a:buAutoNum type="arabicPeriod"/>
            </a:pPr>
            <a:r>
              <a:rPr lang="en-US" altLang="zh-TW" sz="2400" dirty="0"/>
              <a:t>MST(Minimum Spanning Tree)</a:t>
            </a:r>
          </a:p>
          <a:p>
            <a:pPr marL="1371600" lvl="2" indent="-457200">
              <a:buAutoNum type="arabicPeriod"/>
            </a:pPr>
            <a:r>
              <a:rPr lang="en-US" altLang="zh-TW" sz="2400" dirty="0"/>
              <a:t>Kruskal</a:t>
            </a:r>
          </a:p>
          <a:p>
            <a:pPr marL="1371600" lvl="2" indent="-457200">
              <a:buAutoNum type="arabicPeriod"/>
            </a:pPr>
            <a:r>
              <a:rPr lang="en-US" altLang="zh-TW" sz="2400" dirty="0"/>
              <a:t>Prim</a:t>
            </a:r>
          </a:p>
          <a:p>
            <a:pPr marL="1371600" lvl="2" indent="-457200">
              <a:buAutoNum type="arabicPeriod"/>
            </a:pPr>
            <a:r>
              <a:rPr lang="en-US" altLang="zh-TW" sz="2400" dirty="0"/>
              <a:t>Solin</a:t>
            </a:r>
          </a:p>
          <a:p>
            <a:pPr marL="457200" indent="-457200">
              <a:buAutoNum type="arabicPeriod"/>
            </a:pPr>
            <a:r>
              <a:rPr lang="en-US" altLang="zh-TW" sz="2400" dirty="0"/>
              <a:t>Application</a:t>
            </a:r>
          </a:p>
          <a:p>
            <a:pPr marL="914400" lvl="1" indent="-457200">
              <a:buAutoNum type="arabicPeriod"/>
            </a:pPr>
            <a:r>
              <a:rPr lang="en-US" altLang="zh-TW" sz="2400" dirty="0"/>
              <a:t>Vertex coloring problem</a:t>
            </a:r>
          </a:p>
          <a:p>
            <a:pPr marL="1371600" lvl="2" indent="-457200">
              <a:buAutoNum type="arabicPeriod"/>
            </a:pPr>
            <a:r>
              <a:rPr lang="en-US" altLang="zh-TW" sz="2400" dirty="0"/>
              <a:t>NP-hard</a:t>
            </a:r>
          </a:p>
          <a:p>
            <a:pPr marL="914400" lvl="1" indent="-457200">
              <a:buAutoNum type="arabicPeriod"/>
            </a:pPr>
            <a:r>
              <a:rPr lang="en-US" altLang="zh-TW" sz="2400" dirty="0"/>
              <a:t>Planar</a:t>
            </a:r>
          </a:p>
          <a:p>
            <a:pPr marL="914400" lvl="1" indent="-457200">
              <a:buAutoNum type="arabicPeriod"/>
            </a:pPr>
            <a:r>
              <a:rPr lang="en-US" altLang="zh-TW" sz="2400" dirty="0"/>
              <a:t> </a:t>
            </a:r>
          </a:p>
          <a:p>
            <a:pPr marL="1371600" lvl="2" indent="-457200">
              <a:buAutoNum type="arabicPeriod"/>
            </a:pPr>
            <a:endParaRPr lang="en-US" altLang="zh-TW" sz="2400" dirty="0"/>
          </a:p>
          <a:p>
            <a:pPr marL="914400" lvl="1" indent="-457200">
              <a:buAutoNum type="arabicPeriod"/>
            </a:pPr>
            <a:endParaRPr lang="en-US" altLang="zh-TW" sz="2400" dirty="0"/>
          </a:p>
          <a:p>
            <a:pPr marL="1371600" lvl="2" indent="-457200">
              <a:buAutoNum type="arabicPeriod"/>
            </a:pPr>
            <a:endParaRPr lang="en-US" altLang="zh-TW" sz="2400" dirty="0"/>
          </a:p>
          <a:p>
            <a:pPr marL="1371600" lvl="2" indent="-457200">
              <a:buAutoNum type="arabicPeriod"/>
            </a:pPr>
            <a:endParaRPr lang="en-US" altLang="zh-TW" sz="2400" b="0" dirty="0"/>
          </a:p>
          <a:p>
            <a:pPr marL="1371600" lvl="2" indent="-457200">
              <a:buAutoNum type="arabicPeriod"/>
            </a:pPr>
            <a:endParaRPr lang="zh-TW" altLang="en-US" sz="2400" dirty="0"/>
          </a:p>
        </p:txBody>
      </p:sp>
    </p:spTree>
    <p:extLst>
      <p:ext uri="{BB962C8B-B14F-4D97-AF65-F5344CB8AC3E}">
        <p14:creationId xmlns:p14="http://schemas.microsoft.com/office/powerpoint/2010/main" val="334902271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CDD094-3EAE-5FEF-C7F4-E8C4F0C0C3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9A8720E-E538-AC0E-9FD6-E57B39156214}"/>
              </a:ext>
            </a:extLst>
          </p:cNvPr>
          <p:cNvSpPr txBox="1"/>
          <p:nvPr/>
        </p:nvSpPr>
        <p:spPr>
          <a:xfrm>
            <a:off x="889000" y="702734"/>
            <a:ext cx="347124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4800" dirty="0"/>
              <a:t>DM - tree</a:t>
            </a:r>
            <a:endParaRPr lang="zh-TW" altLang="en-US" sz="48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09E409D-E406-5BF3-1D1D-984A2B92214E}"/>
              </a:ext>
            </a:extLst>
          </p:cNvPr>
          <p:cNvSpPr txBox="1"/>
          <p:nvPr/>
        </p:nvSpPr>
        <p:spPr>
          <a:xfrm>
            <a:off x="889000" y="1595021"/>
            <a:ext cx="9238381" cy="7478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AutoNum type="arabicPeriod"/>
            </a:pPr>
            <a:r>
              <a:rPr lang="en-US" altLang="zh-TW" sz="2400" dirty="0"/>
              <a:t>Property</a:t>
            </a:r>
          </a:p>
          <a:p>
            <a:pPr marL="914400" lvl="1" indent="-457200">
              <a:buAutoNum type="arabicPeriod"/>
            </a:pPr>
            <a:r>
              <a:rPr lang="en-US" altLang="zh-TW" sz="2400" dirty="0"/>
              <a:t>Connectivity</a:t>
            </a:r>
          </a:p>
          <a:p>
            <a:pPr marL="1371600" lvl="2" indent="-457200">
              <a:buAutoNum type="arabicPeriod"/>
            </a:pPr>
            <a:r>
              <a:rPr lang="en-US" altLang="zh-TW" sz="2400" dirty="0"/>
              <a:t>Articulation point</a:t>
            </a:r>
          </a:p>
          <a:p>
            <a:pPr marL="1371600" lvl="2" indent="-457200">
              <a:buAutoNum type="arabicPeriod"/>
            </a:pPr>
            <a:r>
              <a:rPr lang="en-US" altLang="zh-TW" sz="2400" dirty="0"/>
              <a:t>DFS/BFS</a:t>
            </a:r>
          </a:p>
          <a:p>
            <a:pPr marL="914400" lvl="1" indent="-457200">
              <a:buAutoNum type="arabicPeriod"/>
            </a:pPr>
            <a:r>
              <a:rPr lang="en-US" altLang="zh-TW" sz="2400" dirty="0"/>
              <a:t>MST(Minimum Spanning Tree)</a:t>
            </a:r>
          </a:p>
          <a:p>
            <a:pPr marL="1371600" lvl="2" indent="-457200">
              <a:buAutoNum type="arabicPeriod"/>
            </a:pPr>
            <a:r>
              <a:rPr lang="en-US" altLang="zh-TW" sz="2400" dirty="0"/>
              <a:t>Kruskal</a:t>
            </a:r>
          </a:p>
          <a:p>
            <a:pPr marL="1371600" lvl="2" indent="-457200">
              <a:buAutoNum type="arabicPeriod"/>
            </a:pPr>
            <a:r>
              <a:rPr lang="en-US" altLang="zh-TW" sz="2400" dirty="0"/>
              <a:t>Prim</a:t>
            </a:r>
          </a:p>
          <a:p>
            <a:pPr marL="1371600" lvl="2" indent="-457200">
              <a:buAutoNum type="arabicPeriod"/>
            </a:pPr>
            <a:r>
              <a:rPr lang="en-US" altLang="zh-TW" sz="2400" dirty="0"/>
              <a:t>Solin</a:t>
            </a:r>
          </a:p>
          <a:p>
            <a:pPr marL="457200" indent="-457200">
              <a:buAutoNum type="arabicPeriod"/>
            </a:pPr>
            <a:r>
              <a:rPr lang="en-US" altLang="zh-TW" sz="2400" dirty="0"/>
              <a:t>Operation</a:t>
            </a:r>
          </a:p>
          <a:p>
            <a:pPr marL="914400" lvl="1" indent="-457200">
              <a:buAutoNum type="arabicPeriod"/>
            </a:pPr>
            <a:r>
              <a:rPr lang="en-US" altLang="zh-TW" sz="2400" dirty="0"/>
              <a:t>Traversal : (1) pre/in/post-order (2) </a:t>
            </a:r>
          </a:p>
          <a:p>
            <a:pPr marL="457200" indent="-457200">
              <a:buAutoNum type="arabicPeriod"/>
            </a:pPr>
            <a:r>
              <a:rPr lang="en-US" altLang="zh-TW" sz="2400" dirty="0"/>
              <a:t>Application</a:t>
            </a:r>
          </a:p>
          <a:p>
            <a:pPr marL="914400" lvl="1" indent="-457200">
              <a:buAutoNum type="arabicPeriod"/>
            </a:pPr>
            <a:r>
              <a:rPr lang="en-US" altLang="zh-TW" sz="2400" dirty="0"/>
              <a:t>Vertex coloring problem</a:t>
            </a:r>
          </a:p>
          <a:p>
            <a:pPr marL="1371600" lvl="2" indent="-457200">
              <a:buAutoNum type="arabicPeriod"/>
            </a:pPr>
            <a:r>
              <a:rPr lang="en-US" altLang="zh-TW" sz="2400" dirty="0"/>
              <a:t>NP-hard</a:t>
            </a:r>
          </a:p>
          <a:p>
            <a:pPr marL="914400" lvl="1" indent="-457200">
              <a:buAutoNum type="arabicPeriod"/>
            </a:pPr>
            <a:r>
              <a:rPr lang="en-US" altLang="zh-TW" sz="2400" dirty="0"/>
              <a:t>Planar</a:t>
            </a:r>
          </a:p>
          <a:p>
            <a:pPr marL="914400" lvl="1" indent="-457200">
              <a:buAutoNum type="arabicPeriod"/>
            </a:pPr>
            <a:r>
              <a:rPr lang="en-US" altLang="zh-TW" sz="2400" dirty="0"/>
              <a:t> </a:t>
            </a:r>
          </a:p>
          <a:p>
            <a:pPr marL="1371600" lvl="2" indent="-457200">
              <a:buAutoNum type="arabicPeriod"/>
            </a:pPr>
            <a:endParaRPr lang="en-US" altLang="zh-TW" sz="2400" dirty="0"/>
          </a:p>
          <a:p>
            <a:pPr marL="914400" lvl="1" indent="-457200">
              <a:buAutoNum type="arabicPeriod"/>
            </a:pPr>
            <a:endParaRPr lang="en-US" altLang="zh-TW" sz="2400" dirty="0"/>
          </a:p>
          <a:p>
            <a:pPr marL="1371600" lvl="2" indent="-457200">
              <a:buAutoNum type="arabicPeriod"/>
            </a:pPr>
            <a:endParaRPr lang="en-US" altLang="zh-TW" sz="2400" dirty="0"/>
          </a:p>
          <a:p>
            <a:pPr marL="1371600" lvl="2" indent="-457200">
              <a:buAutoNum type="arabicPeriod"/>
            </a:pPr>
            <a:endParaRPr lang="en-US" altLang="zh-TW" sz="2400" b="0" dirty="0"/>
          </a:p>
          <a:p>
            <a:pPr marL="1371600" lvl="2" indent="-457200">
              <a:buAutoNum type="arabicPeriod"/>
            </a:pPr>
            <a:endParaRPr lang="zh-TW" altLang="en-US" sz="2400" dirty="0"/>
          </a:p>
        </p:txBody>
      </p:sp>
    </p:spTree>
    <p:extLst>
      <p:ext uri="{BB962C8B-B14F-4D97-AF65-F5344CB8AC3E}">
        <p14:creationId xmlns:p14="http://schemas.microsoft.com/office/powerpoint/2010/main" val="399252668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C00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F2091B7-D08F-52C2-3053-551161D602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F1128FF-0439-DFB6-E8B6-D6B00E7109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>
                <a:solidFill>
                  <a:schemeClr val="bg1"/>
                </a:solidFill>
              </a:rPr>
              <a:t>AM</a:t>
            </a:r>
            <a:endParaRPr lang="zh-TW" altLang="en-US" dirty="0">
              <a:solidFill>
                <a:schemeClr val="bg1"/>
              </a:solidFill>
            </a:endParaRP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FCAB4BEE-1CAE-33C9-9BD8-304270274B2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052756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7FBE3F-F781-91E4-A82B-B49C7C81B3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3CF2076-D7E4-121F-ED08-4A7D15E4E261}"/>
              </a:ext>
            </a:extLst>
          </p:cNvPr>
          <p:cNvSpPr txBox="1"/>
          <p:nvPr/>
        </p:nvSpPr>
        <p:spPr>
          <a:xfrm>
            <a:off x="889000" y="702734"/>
            <a:ext cx="347124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4800" dirty="0"/>
              <a:t>AM - graph</a:t>
            </a:r>
            <a:endParaRPr lang="zh-TW" altLang="en-US" sz="48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F499FC3-D207-6041-8517-05A640E37618}"/>
              </a:ext>
            </a:extLst>
          </p:cNvPr>
          <p:cNvSpPr txBox="1"/>
          <p:nvPr/>
        </p:nvSpPr>
        <p:spPr>
          <a:xfrm>
            <a:off x="889000" y="1595021"/>
            <a:ext cx="9238381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AutoNum type="arabicPeriod"/>
            </a:pPr>
            <a:r>
              <a:rPr lang="en-US" altLang="zh-TW" sz="2400" dirty="0"/>
              <a:t>MST(Minimum Spanning Tree)</a:t>
            </a:r>
          </a:p>
          <a:p>
            <a:pPr marL="457200" indent="-457200">
              <a:buAutoNum type="arabicPeriod"/>
            </a:pPr>
            <a:r>
              <a:rPr lang="en-US" altLang="zh-TW" sz="2400" dirty="0"/>
              <a:t>Shortest Path Problem</a:t>
            </a:r>
          </a:p>
          <a:p>
            <a:pPr marL="457200" indent="-457200">
              <a:buAutoNum type="arabicPeriod"/>
            </a:pPr>
            <a:r>
              <a:rPr lang="en-US" altLang="zh-TW" sz="2400" dirty="0"/>
              <a:t>Max flow problem</a:t>
            </a:r>
          </a:p>
          <a:p>
            <a:pPr marL="457200" indent="-457200">
              <a:buAutoNum type="arabicPeriod"/>
            </a:pPr>
            <a:r>
              <a:rPr lang="en-US" altLang="zh-TW" sz="2400" dirty="0"/>
              <a:t> </a:t>
            </a:r>
          </a:p>
          <a:p>
            <a:pPr marL="1371600" lvl="2" indent="-457200">
              <a:buAutoNum type="arabicPeriod"/>
            </a:pPr>
            <a:endParaRPr lang="en-US" altLang="zh-TW" sz="2400" dirty="0"/>
          </a:p>
          <a:p>
            <a:pPr marL="914400" lvl="1" indent="-457200">
              <a:buAutoNum type="arabicPeriod"/>
            </a:pPr>
            <a:endParaRPr lang="en-US" altLang="zh-TW" sz="2400" dirty="0"/>
          </a:p>
          <a:p>
            <a:pPr marL="1371600" lvl="2" indent="-457200">
              <a:buAutoNum type="arabicPeriod"/>
            </a:pPr>
            <a:endParaRPr lang="en-US" altLang="zh-TW" sz="2400" dirty="0"/>
          </a:p>
          <a:p>
            <a:pPr marL="1371600" lvl="2" indent="-457200">
              <a:buAutoNum type="arabicPeriod"/>
            </a:pPr>
            <a:endParaRPr lang="en-US" altLang="zh-TW" sz="2400" b="0" dirty="0"/>
          </a:p>
          <a:p>
            <a:pPr marL="1371600" lvl="2" indent="-457200">
              <a:buAutoNum type="arabicPeriod"/>
            </a:pPr>
            <a:endParaRPr lang="zh-TW" altLang="en-US" sz="2400" dirty="0"/>
          </a:p>
        </p:txBody>
      </p:sp>
    </p:spTree>
    <p:extLst>
      <p:ext uri="{BB962C8B-B14F-4D97-AF65-F5344CB8AC3E}">
        <p14:creationId xmlns:p14="http://schemas.microsoft.com/office/powerpoint/2010/main" val="239022444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AD0A7C-8E96-38C7-A648-F405B3A96D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D6F7A4B-11B9-54C7-2A11-AB4043EE36B1}"/>
              </a:ext>
            </a:extLst>
          </p:cNvPr>
          <p:cNvSpPr txBox="1"/>
          <p:nvPr/>
        </p:nvSpPr>
        <p:spPr>
          <a:xfrm>
            <a:off x="889000" y="702734"/>
            <a:ext cx="5207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4800" dirty="0"/>
              <a:t>AM – NP hardness</a:t>
            </a:r>
            <a:endParaRPr lang="zh-TW" altLang="en-US" sz="48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34D3564-369C-09DA-2124-5BBBA111D6B2}"/>
              </a:ext>
            </a:extLst>
          </p:cNvPr>
          <p:cNvSpPr txBox="1"/>
          <p:nvPr/>
        </p:nvSpPr>
        <p:spPr>
          <a:xfrm>
            <a:off x="889000" y="1595021"/>
            <a:ext cx="9238381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AutoNum type="arabicPeriod"/>
            </a:pPr>
            <a:r>
              <a:rPr lang="en-US" altLang="zh-TW" sz="2400" dirty="0"/>
              <a:t>reduction</a:t>
            </a:r>
          </a:p>
          <a:p>
            <a:pPr marL="457200" indent="-457200">
              <a:buAutoNum type="arabicPeriod"/>
            </a:pPr>
            <a:r>
              <a:rPr lang="en-US" altLang="zh-TW" sz="2400" dirty="0"/>
              <a:t>Definition</a:t>
            </a:r>
          </a:p>
          <a:p>
            <a:pPr marL="457200" indent="-457200">
              <a:buAutoNum type="arabicPeriod"/>
            </a:pPr>
            <a:r>
              <a:rPr lang="en-US" altLang="zh-TW" sz="2400" dirty="0"/>
              <a:t>Example</a:t>
            </a:r>
          </a:p>
          <a:p>
            <a:pPr marL="914400" lvl="1" indent="-457200">
              <a:buAutoNum type="arabicPeriod"/>
            </a:pPr>
            <a:r>
              <a:rPr lang="en-US" altLang="zh-TW" sz="2400" dirty="0"/>
              <a:t>TSP(Travel Salesman Problem)</a:t>
            </a:r>
          </a:p>
          <a:p>
            <a:pPr marL="1371600" lvl="2" indent="-457200">
              <a:buAutoNum type="arabicPeriod"/>
            </a:pPr>
            <a:endParaRPr lang="en-US" altLang="zh-TW" sz="2400" dirty="0"/>
          </a:p>
          <a:p>
            <a:pPr marL="914400" lvl="1" indent="-457200">
              <a:buAutoNum type="arabicPeriod"/>
            </a:pPr>
            <a:endParaRPr lang="en-US" altLang="zh-TW" sz="2400" dirty="0"/>
          </a:p>
          <a:p>
            <a:pPr marL="1371600" lvl="2" indent="-457200">
              <a:buAutoNum type="arabicPeriod"/>
            </a:pPr>
            <a:endParaRPr lang="en-US" altLang="zh-TW" sz="2400" dirty="0"/>
          </a:p>
          <a:p>
            <a:pPr marL="1371600" lvl="2" indent="-457200">
              <a:buAutoNum type="arabicPeriod"/>
            </a:pPr>
            <a:endParaRPr lang="en-US" altLang="zh-TW" sz="2400" b="0" dirty="0"/>
          </a:p>
          <a:p>
            <a:pPr marL="1371600" lvl="2" indent="-457200">
              <a:buAutoNum type="arabicPeriod"/>
            </a:pPr>
            <a:endParaRPr lang="zh-TW" altLang="en-US" sz="2400" dirty="0"/>
          </a:p>
        </p:txBody>
      </p:sp>
    </p:spTree>
    <p:extLst>
      <p:ext uri="{BB962C8B-B14F-4D97-AF65-F5344CB8AC3E}">
        <p14:creationId xmlns:p14="http://schemas.microsoft.com/office/powerpoint/2010/main" val="81392383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878F6C-8EF5-127C-1773-D6B806773B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EE29D69-E629-3D08-DB6B-7A1CDC3050A2}"/>
              </a:ext>
            </a:extLst>
          </p:cNvPr>
          <p:cNvSpPr txBox="1"/>
          <p:nvPr/>
        </p:nvSpPr>
        <p:spPr>
          <a:xfrm>
            <a:off x="889000" y="702734"/>
            <a:ext cx="5207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4800" dirty="0"/>
              <a:t>AM – NP hardness</a:t>
            </a:r>
            <a:endParaRPr lang="zh-TW" altLang="en-US" sz="48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327DC9C-9907-702E-E0B6-02453A93F0F5}"/>
              </a:ext>
            </a:extLst>
          </p:cNvPr>
          <p:cNvSpPr txBox="1"/>
          <p:nvPr/>
        </p:nvSpPr>
        <p:spPr>
          <a:xfrm>
            <a:off x="889000" y="1595021"/>
            <a:ext cx="9238381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AutoNum type="arabicPeriod"/>
            </a:pPr>
            <a:r>
              <a:rPr lang="en-US" altLang="zh-TW" sz="2400" dirty="0"/>
              <a:t>reduction</a:t>
            </a:r>
          </a:p>
          <a:p>
            <a:pPr marL="457200" indent="-457200">
              <a:buAutoNum type="arabicPeriod"/>
            </a:pPr>
            <a:r>
              <a:rPr lang="en-US" altLang="zh-TW" sz="2400" dirty="0"/>
              <a:t>Definition</a:t>
            </a:r>
          </a:p>
          <a:p>
            <a:pPr marL="457200" indent="-457200">
              <a:buAutoNum type="arabicPeriod"/>
            </a:pPr>
            <a:r>
              <a:rPr lang="en-US" altLang="zh-TW" sz="2400" dirty="0"/>
              <a:t>Example</a:t>
            </a:r>
          </a:p>
          <a:p>
            <a:pPr marL="914400" lvl="1" indent="-457200">
              <a:buAutoNum type="arabicPeriod"/>
            </a:pPr>
            <a:r>
              <a:rPr lang="en-US" altLang="zh-TW" sz="2400" dirty="0"/>
              <a:t>TSP(Travel Salesman Problem)</a:t>
            </a:r>
          </a:p>
          <a:p>
            <a:pPr marL="1371600" lvl="2" indent="-457200">
              <a:buAutoNum type="arabicPeriod"/>
            </a:pPr>
            <a:endParaRPr lang="en-US" altLang="zh-TW" sz="2400" dirty="0"/>
          </a:p>
          <a:p>
            <a:pPr marL="914400" lvl="1" indent="-457200">
              <a:buAutoNum type="arabicPeriod"/>
            </a:pPr>
            <a:endParaRPr lang="en-US" altLang="zh-TW" sz="2400" dirty="0"/>
          </a:p>
          <a:p>
            <a:pPr marL="1371600" lvl="2" indent="-457200">
              <a:buAutoNum type="arabicPeriod"/>
            </a:pPr>
            <a:endParaRPr lang="en-US" altLang="zh-TW" sz="2400" dirty="0"/>
          </a:p>
          <a:p>
            <a:pPr marL="1371600" lvl="2" indent="-457200">
              <a:buAutoNum type="arabicPeriod"/>
            </a:pPr>
            <a:endParaRPr lang="en-US" altLang="zh-TW" sz="2400" b="0" dirty="0"/>
          </a:p>
          <a:p>
            <a:pPr marL="1371600" lvl="2" indent="-457200">
              <a:buAutoNum type="arabicPeriod"/>
            </a:pPr>
            <a:endParaRPr lang="zh-TW" altLang="en-US" sz="2400" dirty="0"/>
          </a:p>
        </p:txBody>
      </p:sp>
    </p:spTree>
    <p:extLst>
      <p:ext uri="{BB962C8B-B14F-4D97-AF65-F5344CB8AC3E}">
        <p14:creationId xmlns:p14="http://schemas.microsoft.com/office/powerpoint/2010/main" val="365070088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34687B5-C7E1-3354-14F9-B19F936702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4B08184-F59A-B668-FC9D-BF4A429C19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>
                <a:solidFill>
                  <a:schemeClr val="bg1"/>
                </a:solidFill>
              </a:rPr>
              <a:t>DS</a:t>
            </a:r>
            <a:endParaRPr lang="zh-TW" altLang="en-US" dirty="0">
              <a:solidFill>
                <a:schemeClr val="bg1"/>
              </a:solidFill>
            </a:endParaRP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5DC13677-7179-7BDB-F41B-5C703DB937D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71005303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39623FE-7CFB-8A1D-60B2-CE5E18611C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E727D12-B963-356E-717A-5E7CFB4680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>
                <a:solidFill>
                  <a:schemeClr val="bg1"/>
                </a:solidFill>
              </a:rPr>
              <a:t>OS</a:t>
            </a:r>
            <a:endParaRPr lang="zh-TW" altLang="en-US" dirty="0">
              <a:solidFill>
                <a:schemeClr val="bg1"/>
              </a:solidFill>
            </a:endParaRP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9DC13A09-8684-8EEB-8B50-14A35AF12B1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1443548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7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D0E528D-FCCC-6940-D33D-D8B77FF5F7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5A546BE-BEA2-73FE-A874-8AFA496994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>
                <a:solidFill>
                  <a:schemeClr val="bg1"/>
                </a:solidFill>
              </a:rPr>
              <a:t>CO</a:t>
            </a:r>
            <a:endParaRPr lang="zh-TW" altLang="en-US" dirty="0">
              <a:solidFill>
                <a:schemeClr val="bg1"/>
              </a:solidFill>
            </a:endParaRP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C9BA028C-C34D-9C70-F128-F4C3BEA1302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8863935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225AF5-8363-7097-802B-3E46D53AFC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DC68F91-4F8A-3086-772C-F3471195B366}"/>
              </a:ext>
            </a:extLst>
          </p:cNvPr>
          <p:cNvSpPr txBox="1"/>
          <p:nvPr/>
        </p:nvSpPr>
        <p:spPr>
          <a:xfrm>
            <a:off x="889000" y="702734"/>
            <a:ext cx="666568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4800" dirty="0"/>
              <a:t>CO – CPU performance</a:t>
            </a:r>
            <a:endParaRPr lang="zh-TW" altLang="en-US" sz="48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CDFFA52-BFA7-3EE9-5103-C3C87122479C}"/>
              </a:ext>
            </a:extLst>
          </p:cNvPr>
          <p:cNvSpPr txBox="1"/>
          <p:nvPr/>
        </p:nvSpPr>
        <p:spPr>
          <a:xfrm>
            <a:off x="889000" y="1595021"/>
            <a:ext cx="9238381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AutoNum type="arabicPeriod"/>
            </a:pPr>
            <a:r>
              <a:rPr lang="en-US" altLang="zh-TW" sz="2400" dirty="0"/>
              <a:t>MIPS (Million Instructions per second)</a:t>
            </a:r>
          </a:p>
          <a:p>
            <a:pPr marL="1371600" lvl="2" indent="-457200">
              <a:buAutoNum type="arabicPeriod"/>
            </a:pPr>
            <a:endParaRPr lang="en-US" altLang="zh-TW" sz="2400" dirty="0"/>
          </a:p>
          <a:p>
            <a:pPr marL="1371600" lvl="2" indent="-457200">
              <a:buAutoNum type="arabicPeriod"/>
            </a:pPr>
            <a:endParaRPr lang="en-US" altLang="zh-TW" sz="2400" b="0" dirty="0"/>
          </a:p>
          <a:p>
            <a:pPr marL="1371600" lvl="2" indent="-457200">
              <a:buAutoNum type="arabicPeriod"/>
            </a:pPr>
            <a:endParaRPr lang="zh-TW" altLang="en-US" sz="2400" dirty="0"/>
          </a:p>
        </p:txBody>
      </p:sp>
      <p:pic>
        <p:nvPicPr>
          <p:cNvPr id="7" name="圖片 6" descr="一張含有 文字, 字型, 白色, 行 的圖片&#10;&#10;AI 產生的內容可能不正確。">
            <a:extLst>
              <a:ext uri="{FF2B5EF4-FFF2-40B4-BE49-F238E27FC236}">
                <a16:creationId xmlns:a16="http://schemas.microsoft.com/office/drawing/2014/main" id="{4D661A8E-7EA9-D5C9-236E-2AC7105EF41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95456" y="1128138"/>
            <a:ext cx="4844143" cy="1245858"/>
          </a:xfrm>
          <a:prstGeom prst="rect">
            <a:avLst/>
          </a:prstGeom>
        </p:spPr>
      </p:pic>
      <p:pic>
        <p:nvPicPr>
          <p:cNvPr id="11" name="圖片 10">
            <a:extLst>
              <a:ext uri="{FF2B5EF4-FFF2-40B4-BE49-F238E27FC236}">
                <a16:creationId xmlns:a16="http://schemas.microsoft.com/office/drawing/2014/main" id="{338B167C-08BB-4E55-2B88-C06EC56FF9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3979" y="5262979"/>
            <a:ext cx="10469078" cy="1057961"/>
          </a:xfrm>
          <a:prstGeom prst="rect">
            <a:avLst/>
          </a:prstGeom>
        </p:spPr>
      </p:pic>
      <p:pic>
        <p:nvPicPr>
          <p:cNvPr id="13" name="圖片 12">
            <a:extLst>
              <a:ext uri="{FF2B5EF4-FFF2-40B4-BE49-F238E27FC236}">
                <a16:creationId xmlns:a16="http://schemas.microsoft.com/office/drawing/2014/main" id="{4A222D1C-047B-41CC-F501-981523BC25C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9000" y="2638315"/>
            <a:ext cx="10498015" cy="790685"/>
          </a:xfrm>
          <a:prstGeom prst="rect">
            <a:avLst/>
          </a:prstGeom>
        </p:spPr>
      </p:pic>
      <p:pic>
        <p:nvPicPr>
          <p:cNvPr id="15" name="圖片 14" descr="一張含有 文字, 字型, 白色, 行 的圖片&#10;&#10;AI 產生的內容可能不正確。">
            <a:extLst>
              <a:ext uri="{FF2B5EF4-FFF2-40B4-BE49-F238E27FC236}">
                <a16:creationId xmlns:a16="http://schemas.microsoft.com/office/drawing/2014/main" id="{D4787894-AFDA-6756-2C18-A44C0B897F1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01687" y="3607816"/>
            <a:ext cx="7125694" cy="13908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3239039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371668-9030-D0B6-FFB7-0FDBEA21A3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4DF3151-ECC7-1B30-FA75-6352A19DC6C1}"/>
              </a:ext>
            </a:extLst>
          </p:cNvPr>
          <p:cNvSpPr txBox="1"/>
          <p:nvPr/>
        </p:nvSpPr>
        <p:spPr>
          <a:xfrm>
            <a:off x="889000" y="702734"/>
            <a:ext cx="5207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4800" dirty="0"/>
              <a:t>CO – power wall</a:t>
            </a:r>
            <a:endParaRPr lang="zh-TW" altLang="en-US" sz="48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4DC400A-7861-75CE-636D-363EF8322BEA}"/>
              </a:ext>
            </a:extLst>
          </p:cNvPr>
          <p:cNvSpPr txBox="1"/>
          <p:nvPr/>
        </p:nvSpPr>
        <p:spPr>
          <a:xfrm>
            <a:off x="889000" y="1595021"/>
            <a:ext cx="9238381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AutoNum type="arabicPeriod"/>
            </a:pPr>
            <a:r>
              <a:rPr lang="en-US" altLang="zh-TW" sz="2400" dirty="0"/>
              <a:t>Dynamic power consumption (CMOS)</a:t>
            </a:r>
          </a:p>
          <a:p>
            <a:pPr marL="1371600" lvl="2" indent="-457200">
              <a:buAutoNum type="arabicPeriod"/>
            </a:pPr>
            <a:endParaRPr lang="en-US" altLang="zh-TW" sz="2400" dirty="0"/>
          </a:p>
          <a:p>
            <a:pPr marL="1371600" lvl="2" indent="-457200">
              <a:buAutoNum type="arabicPeriod"/>
            </a:pPr>
            <a:endParaRPr lang="en-US" altLang="zh-TW" sz="2400" b="0" dirty="0"/>
          </a:p>
          <a:p>
            <a:pPr marL="1371600" lvl="2" indent="-457200">
              <a:buAutoNum type="arabicPeriod"/>
            </a:pPr>
            <a:endParaRPr lang="zh-TW" altLang="en-US" sz="2400" dirty="0"/>
          </a:p>
        </p:txBody>
      </p:sp>
      <p:pic>
        <p:nvPicPr>
          <p:cNvPr id="6" name="圖片 5" descr="一張含有 字型, 文字, 印刷術, 書法 的圖片&#10;&#10;AI 產生的內容可能不正確。">
            <a:extLst>
              <a:ext uri="{FF2B5EF4-FFF2-40B4-BE49-F238E27FC236}">
                <a16:creationId xmlns:a16="http://schemas.microsoft.com/office/drawing/2014/main" id="{B41C93E0-1144-2584-FEB8-BA889A9B58F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6549" y="3107450"/>
            <a:ext cx="7944959" cy="11717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6822932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C06216-874D-5CD4-7638-0D109BFE05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9AADD31-DC24-0854-981A-71428F2D7340}"/>
              </a:ext>
            </a:extLst>
          </p:cNvPr>
          <p:cNvSpPr txBox="1"/>
          <p:nvPr/>
        </p:nvSpPr>
        <p:spPr>
          <a:xfrm>
            <a:off x="1037771" y="592436"/>
            <a:ext cx="10116457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4800" dirty="0"/>
              <a:t>CO – pitfall (</a:t>
            </a:r>
            <a:r>
              <a:rPr lang="zh-TW" altLang="en-US" sz="4800" dirty="0"/>
              <a:t>不是越多 </a:t>
            </a:r>
            <a:r>
              <a:rPr lang="en-US" altLang="zh-TW" sz="4800" dirty="0"/>
              <a:t>CPU </a:t>
            </a:r>
            <a:r>
              <a:rPr lang="zh-TW" altLang="en-US" sz="4800" dirty="0"/>
              <a:t>就能有更好的效能</a:t>
            </a:r>
            <a:r>
              <a:rPr lang="en-US" altLang="zh-TW" sz="4800" dirty="0"/>
              <a:t>)</a:t>
            </a:r>
            <a:endParaRPr lang="zh-TW" altLang="en-US" sz="48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3CBC0A6-1E48-A936-9152-A3742595F7D6}"/>
              </a:ext>
            </a:extLst>
          </p:cNvPr>
          <p:cNvSpPr txBox="1"/>
          <p:nvPr/>
        </p:nvSpPr>
        <p:spPr>
          <a:xfrm>
            <a:off x="1158419" y="2644170"/>
            <a:ext cx="9238381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AutoNum type="arabicPeriod"/>
            </a:pPr>
            <a:r>
              <a:rPr lang="en-US" altLang="zh-TW" sz="2400" dirty="0"/>
              <a:t>Amdahl’s law</a:t>
            </a:r>
          </a:p>
          <a:p>
            <a:pPr marL="1371600" lvl="2" indent="-457200">
              <a:buAutoNum type="arabicPeriod"/>
            </a:pPr>
            <a:endParaRPr lang="en-US" altLang="zh-TW" sz="2400" dirty="0"/>
          </a:p>
          <a:p>
            <a:pPr marL="1371600" lvl="2" indent="-457200">
              <a:buAutoNum type="arabicPeriod"/>
            </a:pPr>
            <a:endParaRPr lang="en-US" altLang="zh-TW" sz="2400" b="0" dirty="0"/>
          </a:p>
          <a:p>
            <a:pPr marL="1371600" lvl="2" indent="-457200">
              <a:buAutoNum type="arabicPeriod"/>
            </a:pPr>
            <a:endParaRPr lang="zh-TW" altLang="en-US" sz="2400" dirty="0"/>
          </a:p>
        </p:txBody>
      </p:sp>
      <p:pic>
        <p:nvPicPr>
          <p:cNvPr id="4" name="圖片 3" descr="一張含有 文字, 字型, 螢幕擷取畫面, 行 的圖片&#10;&#10;AI 產生的內容可能不正確。">
            <a:extLst>
              <a:ext uri="{FF2B5EF4-FFF2-40B4-BE49-F238E27FC236}">
                <a16:creationId xmlns:a16="http://schemas.microsoft.com/office/drawing/2014/main" id="{546CDA3F-65ED-2CE5-2001-1ABE04F7EDF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83703" y="3700271"/>
            <a:ext cx="8514516" cy="15039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614755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F48C21-2C86-2651-BB9E-DF6DB6E262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347AB4C-942D-9F5D-FB9D-0564EF81F258}"/>
              </a:ext>
            </a:extLst>
          </p:cNvPr>
          <p:cNvSpPr txBox="1"/>
          <p:nvPr/>
        </p:nvSpPr>
        <p:spPr>
          <a:xfrm>
            <a:off x="1037771" y="592436"/>
            <a:ext cx="1011645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4800" dirty="0"/>
              <a:t>CO – instruction</a:t>
            </a:r>
            <a:endParaRPr lang="zh-TW" altLang="en-US" sz="4800" dirty="0"/>
          </a:p>
        </p:txBody>
      </p:sp>
      <p:pic>
        <p:nvPicPr>
          <p:cNvPr id="6" name="圖片 5" descr="一張含有 文字, 螢幕擷取畫面, 數字, 字型 的圖片&#10;&#10;AI 產生的內容可能不正確。">
            <a:extLst>
              <a:ext uri="{FF2B5EF4-FFF2-40B4-BE49-F238E27FC236}">
                <a16:creationId xmlns:a16="http://schemas.microsoft.com/office/drawing/2014/main" id="{8349C925-CF1B-A1BA-B294-7383EB9863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6166" y="1838170"/>
            <a:ext cx="11179666" cy="42205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709268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681E29-39B1-00CC-9BDF-4887DA090C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4FAD9E3-5084-8EED-A078-1D23DE16EB33}"/>
              </a:ext>
            </a:extLst>
          </p:cNvPr>
          <p:cNvSpPr txBox="1"/>
          <p:nvPr/>
        </p:nvSpPr>
        <p:spPr>
          <a:xfrm>
            <a:off x="1037771" y="592436"/>
            <a:ext cx="1011645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4800" dirty="0"/>
              <a:t>CO – instruction</a:t>
            </a:r>
            <a:endParaRPr lang="zh-TW" altLang="en-US" sz="48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1500482-3284-ED57-FCAF-DAFF600847EF}"/>
              </a:ext>
            </a:extLst>
          </p:cNvPr>
          <p:cNvSpPr txBox="1"/>
          <p:nvPr/>
        </p:nvSpPr>
        <p:spPr>
          <a:xfrm>
            <a:off x="4205514" y="324454"/>
            <a:ext cx="9238381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AutoNum type="arabicPeriod"/>
            </a:pPr>
            <a:r>
              <a:rPr lang="en-US" altLang="zh-TW" sz="2400" dirty="0"/>
              <a:t>Amdahl’s law</a:t>
            </a:r>
          </a:p>
          <a:p>
            <a:pPr marL="1371600" lvl="2" indent="-457200">
              <a:buAutoNum type="arabicPeriod"/>
            </a:pPr>
            <a:endParaRPr lang="en-US" altLang="zh-TW" sz="2400" dirty="0"/>
          </a:p>
          <a:p>
            <a:pPr marL="1371600" lvl="2" indent="-457200">
              <a:buAutoNum type="arabicPeriod"/>
            </a:pPr>
            <a:endParaRPr lang="en-US" altLang="zh-TW" sz="2400" b="0" dirty="0"/>
          </a:p>
          <a:p>
            <a:pPr marL="1371600" lvl="2" indent="-457200">
              <a:buAutoNum type="arabicPeriod"/>
            </a:pPr>
            <a:endParaRPr lang="zh-TW" altLang="en-US" sz="2400" dirty="0"/>
          </a:p>
        </p:txBody>
      </p:sp>
      <p:pic>
        <p:nvPicPr>
          <p:cNvPr id="5" name="圖片 4" descr="一張含有 文字, 數字, 字型, 文件 的圖片&#10;&#10;AI 產生的內容可能不正確。">
            <a:extLst>
              <a:ext uri="{FF2B5EF4-FFF2-40B4-BE49-F238E27FC236}">
                <a16:creationId xmlns:a16="http://schemas.microsoft.com/office/drawing/2014/main" id="{EDAF8E2D-A208-1452-FD8E-F4965B3113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3642" y="1263015"/>
            <a:ext cx="10504714" cy="54352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969072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DC0347-DA8B-13EE-0417-71985FD147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DB16338-8DB4-E902-F14D-3252756BF979}"/>
              </a:ext>
            </a:extLst>
          </p:cNvPr>
          <p:cNvSpPr txBox="1"/>
          <p:nvPr/>
        </p:nvSpPr>
        <p:spPr>
          <a:xfrm>
            <a:off x="1037771" y="592436"/>
            <a:ext cx="1011645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4800" dirty="0"/>
              <a:t>CO – instruction</a:t>
            </a:r>
            <a:endParaRPr lang="zh-TW" altLang="en-US" sz="48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00C2E78-8C50-1DA0-5018-251C63921CEE}"/>
              </a:ext>
            </a:extLst>
          </p:cNvPr>
          <p:cNvSpPr txBox="1"/>
          <p:nvPr/>
        </p:nvSpPr>
        <p:spPr>
          <a:xfrm>
            <a:off x="1037771" y="1797654"/>
            <a:ext cx="9238381" cy="56323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AutoNum type="arabicPeriod"/>
            </a:pPr>
            <a:r>
              <a:rPr lang="en-US" altLang="zh-TW" sz="2400" dirty="0"/>
              <a:t>WORD = 32 bits</a:t>
            </a:r>
          </a:p>
          <a:p>
            <a:pPr marL="457200" indent="-457200">
              <a:buAutoNum type="arabicPeriod"/>
            </a:pPr>
            <a:r>
              <a:rPr lang="en-US" altLang="zh-TW" sz="2400" dirty="0"/>
              <a:t>Register</a:t>
            </a:r>
          </a:p>
          <a:p>
            <a:pPr marL="914400" lvl="1" indent="-457200">
              <a:buAutoNum type="arabicPeriod"/>
            </a:pPr>
            <a:r>
              <a:rPr lang="en-US" altLang="zh-TW" sz="2400" dirty="0"/>
              <a:t>$s0, $s1 … for variables in C</a:t>
            </a:r>
          </a:p>
          <a:p>
            <a:pPr marL="914400" lvl="1" indent="-457200">
              <a:buAutoNum type="arabicPeriod"/>
            </a:pPr>
            <a:r>
              <a:rPr lang="en-US" altLang="zh-TW" sz="2400" dirty="0"/>
              <a:t>$t0, $t1 … for temporary register</a:t>
            </a:r>
          </a:p>
          <a:p>
            <a:pPr marL="457200" indent="-457200">
              <a:buAutoNum type="arabicPeriod"/>
            </a:pPr>
            <a:r>
              <a:rPr lang="en-US" altLang="zh-TW" sz="2400" dirty="0"/>
              <a:t>Data transfer instruction(move data between memory &amp; register)</a:t>
            </a:r>
          </a:p>
          <a:p>
            <a:pPr marL="914400" lvl="1" indent="-457200">
              <a:buAutoNum type="arabicPeriod"/>
            </a:pPr>
            <a:r>
              <a:rPr lang="en-US" altLang="zh-TW" sz="2400" dirty="0"/>
              <a:t>Load : copy data from memory to register</a:t>
            </a:r>
          </a:p>
          <a:p>
            <a:pPr marL="914400" lvl="1" indent="-457200">
              <a:buAutoNum type="arabicPeriod"/>
            </a:pPr>
            <a:r>
              <a:rPr lang="en-US" altLang="zh-TW" sz="2400" dirty="0"/>
              <a:t>Store : copy data from register to memory</a:t>
            </a:r>
          </a:p>
          <a:p>
            <a:pPr marL="457200" indent="-457200">
              <a:buAutoNum type="arabicPeriod"/>
            </a:pPr>
            <a:r>
              <a:rPr lang="en-US" altLang="zh-TW" sz="2400" dirty="0"/>
              <a:t>Alignment</a:t>
            </a:r>
          </a:p>
          <a:p>
            <a:pPr marL="914400" lvl="1" indent="-457200">
              <a:buAutoNum type="arabicPeriod"/>
            </a:pPr>
            <a:r>
              <a:rPr lang="en-US" altLang="zh-TW" sz="2400" dirty="0"/>
              <a:t>1 WORD = 4 bytes</a:t>
            </a:r>
          </a:p>
          <a:p>
            <a:pPr marL="914400" lvl="1" indent="-457200">
              <a:buAutoNum type="arabicPeriod"/>
            </a:pPr>
            <a:r>
              <a:rPr lang="en-US" altLang="zh-TW" sz="2400" dirty="0"/>
              <a:t>Big endian(MIPS) , Little endian</a:t>
            </a:r>
          </a:p>
          <a:p>
            <a:pPr marL="457200" indent="-457200">
              <a:buAutoNum type="arabicPeriod"/>
            </a:pPr>
            <a:endParaRPr lang="en-US" altLang="zh-TW" sz="2400" dirty="0"/>
          </a:p>
          <a:p>
            <a:pPr marL="914400" lvl="1" indent="-457200">
              <a:buAutoNum type="arabicPeriod"/>
            </a:pPr>
            <a:endParaRPr lang="en-US" altLang="zh-TW" sz="2400" dirty="0"/>
          </a:p>
          <a:p>
            <a:pPr marL="1371600" lvl="2" indent="-457200">
              <a:buAutoNum type="arabicPeriod"/>
            </a:pPr>
            <a:endParaRPr lang="en-US" altLang="zh-TW" sz="2400" dirty="0"/>
          </a:p>
          <a:p>
            <a:pPr marL="1371600" lvl="2" indent="-457200">
              <a:buAutoNum type="arabicPeriod"/>
            </a:pPr>
            <a:endParaRPr lang="en-US" altLang="zh-TW" sz="2400" b="0" dirty="0"/>
          </a:p>
          <a:p>
            <a:pPr marL="1371600" lvl="2" indent="-457200">
              <a:buAutoNum type="arabicPeriod"/>
            </a:pPr>
            <a:endParaRPr lang="zh-TW" altLang="en-US" sz="2400" dirty="0"/>
          </a:p>
        </p:txBody>
      </p:sp>
      <p:pic>
        <p:nvPicPr>
          <p:cNvPr id="6" name="圖片 5" descr="一張含有 文字, 螢幕擷取畫面, 圖表, 行 的圖片&#10;&#10;AI 產生的內容可能不正確。">
            <a:extLst>
              <a:ext uri="{FF2B5EF4-FFF2-40B4-BE49-F238E27FC236}">
                <a16:creationId xmlns:a16="http://schemas.microsoft.com/office/drawing/2014/main" id="{06116BE2-40A4-51CB-E6B9-2A37E474AAC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00464" y="433041"/>
            <a:ext cx="4935064" cy="23550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934066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4E00B5-B231-9CF4-87BA-E91A78AF0F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E3CDF32-5F5F-E905-91A6-435C678647BE}"/>
              </a:ext>
            </a:extLst>
          </p:cNvPr>
          <p:cNvSpPr txBox="1"/>
          <p:nvPr/>
        </p:nvSpPr>
        <p:spPr>
          <a:xfrm>
            <a:off x="1037771" y="592436"/>
            <a:ext cx="1011645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4800" dirty="0"/>
              <a:t>CO – instruction</a:t>
            </a:r>
            <a:endParaRPr lang="zh-TW" altLang="en-US" sz="4800" dirty="0"/>
          </a:p>
        </p:txBody>
      </p:sp>
      <p:pic>
        <p:nvPicPr>
          <p:cNvPr id="6" name="圖片 5" descr="一張含有 文字, 螢幕擷取畫面, 圖表, 行 的圖片&#10;&#10;AI 產生的內容可能不正確。">
            <a:extLst>
              <a:ext uri="{FF2B5EF4-FFF2-40B4-BE49-F238E27FC236}">
                <a16:creationId xmlns:a16="http://schemas.microsoft.com/office/drawing/2014/main" id="{41E98F34-3D16-A2A4-07A0-AC3B0995A7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41987" y="2081230"/>
            <a:ext cx="4935064" cy="2355006"/>
          </a:xfrm>
          <a:prstGeom prst="rect">
            <a:avLst/>
          </a:prstGeom>
        </p:spPr>
      </p:pic>
      <p:grpSp>
        <p:nvGrpSpPr>
          <p:cNvPr id="4" name="群組 3">
            <a:extLst>
              <a:ext uri="{FF2B5EF4-FFF2-40B4-BE49-F238E27FC236}">
                <a16:creationId xmlns:a16="http://schemas.microsoft.com/office/drawing/2014/main" id="{7E302BCF-2916-F302-25EA-4F4EA87D7442}"/>
              </a:ext>
            </a:extLst>
          </p:cNvPr>
          <p:cNvGrpSpPr/>
          <p:nvPr/>
        </p:nvGrpSpPr>
        <p:grpSpPr>
          <a:xfrm>
            <a:off x="1479981" y="4776770"/>
            <a:ext cx="9940650" cy="1302092"/>
            <a:chOff x="1383728" y="3486985"/>
            <a:chExt cx="9940650" cy="1302092"/>
          </a:xfrm>
        </p:grpSpPr>
        <p:pic>
          <p:nvPicPr>
            <p:cNvPr id="8" name="圖片 7" descr="一張含有 文字, 字型, 行, 螢幕擷取畫面 的圖片&#10;&#10;AI 產生的內容可能不正確。">
              <a:extLst>
                <a:ext uri="{FF2B5EF4-FFF2-40B4-BE49-F238E27FC236}">
                  <a16:creationId xmlns:a16="http://schemas.microsoft.com/office/drawing/2014/main" id="{AA88ADA0-16A4-443C-2600-1640783C6AA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614222" y="3486985"/>
              <a:ext cx="7542998" cy="1165938"/>
            </a:xfrm>
            <a:prstGeom prst="rect">
              <a:avLst/>
            </a:prstGeom>
          </p:spPr>
        </p:pic>
        <p:sp>
          <p:nvSpPr>
            <p:cNvPr id="9" name="矩形 8">
              <a:extLst>
                <a:ext uri="{FF2B5EF4-FFF2-40B4-BE49-F238E27FC236}">
                  <a16:creationId xmlns:a16="http://schemas.microsoft.com/office/drawing/2014/main" id="{AC2DFBF6-AEF2-349D-3CCC-32D58EC8E873}"/>
                </a:ext>
              </a:extLst>
            </p:cNvPr>
            <p:cNvSpPr/>
            <p:nvPr/>
          </p:nvSpPr>
          <p:spPr>
            <a:xfrm>
              <a:off x="2638515" y="3574627"/>
              <a:ext cx="269240" cy="762000"/>
            </a:xfrm>
            <a:prstGeom prst="rect">
              <a:avLst/>
            </a:prstGeom>
            <a:noFill/>
            <a:ln w="38100"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0" name="矩形 9">
              <a:extLst>
                <a:ext uri="{FF2B5EF4-FFF2-40B4-BE49-F238E27FC236}">
                  <a16:creationId xmlns:a16="http://schemas.microsoft.com/office/drawing/2014/main" id="{FF1448C2-1AC7-369D-0866-7F4BD2390C1B}"/>
                </a:ext>
              </a:extLst>
            </p:cNvPr>
            <p:cNvSpPr/>
            <p:nvPr/>
          </p:nvSpPr>
          <p:spPr>
            <a:xfrm>
              <a:off x="9767436" y="3574627"/>
              <a:ext cx="269240" cy="762000"/>
            </a:xfrm>
            <a:prstGeom prst="rect">
              <a:avLst/>
            </a:prstGeom>
            <a:noFill/>
            <a:ln w="38100">
              <a:solidFill>
                <a:srgbClr val="00B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>
                <a:solidFill>
                  <a:srgbClr val="00B050"/>
                </a:solidFill>
              </a:endParaRPr>
            </a:p>
          </p:txBody>
        </p:sp>
        <p:sp>
          <p:nvSpPr>
            <p:cNvPr id="11" name="文字方塊 10">
              <a:extLst>
                <a:ext uri="{FF2B5EF4-FFF2-40B4-BE49-F238E27FC236}">
                  <a16:creationId xmlns:a16="http://schemas.microsoft.com/office/drawing/2014/main" id="{ECC8C34E-DA56-A657-7ED1-A83C693D214A}"/>
                </a:ext>
              </a:extLst>
            </p:cNvPr>
            <p:cNvSpPr txBox="1"/>
            <p:nvPr/>
          </p:nvSpPr>
          <p:spPr>
            <a:xfrm>
              <a:off x="8367763" y="4419745"/>
              <a:ext cx="295661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TW" dirty="0">
                  <a:solidFill>
                    <a:srgbClr val="00B050"/>
                  </a:solidFill>
                </a:rPr>
                <a:t>Least significant bit (rightest)</a:t>
              </a:r>
              <a:endParaRPr lang="zh-TW" altLang="en-US" dirty="0">
                <a:solidFill>
                  <a:srgbClr val="00B050"/>
                </a:solidFill>
              </a:endParaRPr>
            </a:p>
          </p:txBody>
        </p:sp>
        <p:sp>
          <p:nvSpPr>
            <p:cNvPr id="12" name="文字方塊 11">
              <a:extLst>
                <a:ext uri="{FF2B5EF4-FFF2-40B4-BE49-F238E27FC236}">
                  <a16:creationId xmlns:a16="http://schemas.microsoft.com/office/drawing/2014/main" id="{FD7A6548-C95F-E7A2-82F5-690585DBB8AA}"/>
                </a:ext>
              </a:extLst>
            </p:cNvPr>
            <p:cNvSpPr txBox="1"/>
            <p:nvPr/>
          </p:nvSpPr>
          <p:spPr>
            <a:xfrm>
              <a:off x="1383728" y="4419745"/>
              <a:ext cx="295661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TW" dirty="0">
                  <a:solidFill>
                    <a:srgbClr val="C00000"/>
                  </a:solidFill>
                </a:rPr>
                <a:t>most significant bit (</a:t>
              </a:r>
              <a:r>
                <a:rPr lang="en-US" altLang="zh-TW" dirty="0" err="1">
                  <a:solidFill>
                    <a:srgbClr val="C00000"/>
                  </a:solidFill>
                </a:rPr>
                <a:t>leftest</a:t>
              </a:r>
              <a:r>
                <a:rPr lang="en-US" altLang="zh-TW" dirty="0">
                  <a:solidFill>
                    <a:srgbClr val="C00000"/>
                  </a:solidFill>
                </a:rPr>
                <a:t>)</a:t>
              </a:r>
              <a:endParaRPr lang="zh-TW" altLang="en-US" dirty="0">
                <a:solidFill>
                  <a:srgbClr val="C00000"/>
                </a:solidFill>
              </a:endParaRPr>
            </a:p>
          </p:txBody>
        </p:sp>
      </p:grpSp>
      <p:pic>
        <p:nvPicPr>
          <p:cNvPr id="7" name="圖片 6" descr="一張含有 字型, 印刷術, 文字, 白色 的圖片&#10;&#10;AI 產生的內容可能不正確。">
            <a:extLst>
              <a:ext uri="{FF2B5EF4-FFF2-40B4-BE49-F238E27FC236}">
                <a16:creationId xmlns:a16="http://schemas.microsoft.com/office/drawing/2014/main" id="{EE89A5D9-862E-69E7-4230-CAE24623CF6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00724" y="1518129"/>
            <a:ext cx="3144295" cy="491676"/>
          </a:xfrm>
          <a:prstGeom prst="rect">
            <a:avLst/>
          </a:prstGeom>
        </p:spPr>
      </p:pic>
      <p:pic>
        <p:nvPicPr>
          <p:cNvPr id="14" name="圖片 13" descr="一張含有 字型, 行, 符號, 螢幕擷取畫面 的圖片&#10;&#10;AI 產生的內容可能不正確。">
            <a:extLst>
              <a:ext uri="{FF2B5EF4-FFF2-40B4-BE49-F238E27FC236}">
                <a16:creationId xmlns:a16="http://schemas.microsoft.com/office/drawing/2014/main" id="{A472F880-9B45-266C-6384-4C97B35C6BE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10152" y="2223679"/>
            <a:ext cx="3610479" cy="876422"/>
          </a:xfrm>
          <a:prstGeom prst="rect">
            <a:avLst/>
          </a:prstGeom>
        </p:spPr>
      </p:pic>
      <p:sp>
        <p:nvSpPr>
          <p:cNvPr id="15" name="TextBox 2">
            <a:extLst>
              <a:ext uri="{FF2B5EF4-FFF2-40B4-BE49-F238E27FC236}">
                <a16:creationId xmlns:a16="http://schemas.microsoft.com/office/drawing/2014/main" id="{99CB4E8C-ED4B-DB1B-2FFF-D561CB409655}"/>
              </a:ext>
            </a:extLst>
          </p:cNvPr>
          <p:cNvSpPr txBox="1"/>
          <p:nvPr/>
        </p:nvSpPr>
        <p:spPr>
          <a:xfrm>
            <a:off x="1037771" y="1797654"/>
            <a:ext cx="9238381" cy="41549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AutoNum type="arabicPeriod"/>
            </a:pPr>
            <a:r>
              <a:rPr lang="en-US" altLang="zh-TW" sz="2400" dirty="0"/>
              <a:t>Two’s complement</a:t>
            </a:r>
          </a:p>
          <a:p>
            <a:pPr marL="914400" lvl="1" indent="-457200">
              <a:buAutoNum type="arabicPeriod"/>
            </a:pPr>
            <a:r>
              <a:rPr lang="en-US" altLang="zh-TW" sz="2400" dirty="0"/>
              <a:t>Sign + magnitude</a:t>
            </a:r>
          </a:p>
          <a:p>
            <a:pPr marL="457200" indent="-457200">
              <a:buAutoNum type="arabicPeriod"/>
            </a:pPr>
            <a:r>
              <a:rPr lang="en-US" altLang="zh-TW" sz="2400" dirty="0"/>
              <a:t>Sign extension (ex. 16-bit to 32-bit)</a:t>
            </a:r>
          </a:p>
          <a:p>
            <a:pPr marL="914400" lvl="1" indent="-457200">
              <a:buAutoNum type="arabicPeriod"/>
            </a:pPr>
            <a:r>
              <a:rPr lang="en-US" altLang="zh-TW" sz="2400" dirty="0"/>
              <a:t>Positive(0) -&gt;</a:t>
            </a:r>
            <a:r>
              <a:rPr lang="zh-TW" altLang="en-US" sz="2400" dirty="0"/>
              <a:t>直接前面補 </a:t>
            </a:r>
            <a:r>
              <a:rPr lang="en-US" altLang="zh-TW" sz="2400" dirty="0"/>
              <a:t>0</a:t>
            </a:r>
          </a:p>
          <a:p>
            <a:pPr marL="914400" lvl="1" indent="-457200">
              <a:buAutoNum type="arabicPeriod"/>
            </a:pPr>
            <a:r>
              <a:rPr lang="en-US" altLang="zh-TW" sz="2400" dirty="0"/>
              <a:t>Negative(1) -&gt; </a:t>
            </a:r>
            <a:r>
              <a:rPr lang="zh-TW" altLang="en-US" sz="2400" dirty="0"/>
              <a:t>直接前面補 </a:t>
            </a:r>
            <a:r>
              <a:rPr lang="en-US" altLang="zh-TW" sz="2400" dirty="0"/>
              <a:t>1</a:t>
            </a:r>
          </a:p>
          <a:p>
            <a:pPr marL="457200" indent="-457200">
              <a:buAutoNum type="arabicPeriod"/>
            </a:pPr>
            <a:endParaRPr lang="en-US" altLang="zh-TW" sz="2400" dirty="0"/>
          </a:p>
          <a:p>
            <a:pPr marL="457200" indent="-457200">
              <a:buAutoNum type="arabicPeriod"/>
            </a:pPr>
            <a:endParaRPr lang="en-US" altLang="zh-TW" sz="2400" dirty="0"/>
          </a:p>
          <a:p>
            <a:pPr marL="914400" lvl="1" indent="-457200">
              <a:buAutoNum type="arabicPeriod"/>
            </a:pPr>
            <a:endParaRPr lang="en-US" altLang="zh-TW" sz="2400" dirty="0"/>
          </a:p>
          <a:p>
            <a:pPr marL="1371600" lvl="2" indent="-457200">
              <a:buAutoNum type="arabicPeriod"/>
            </a:pPr>
            <a:endParaRPr lang="en-US" altLang="zh-TW" sz="2400" dirty="0"/>
          </a:p>
          <a:p>
            <a:pPr marL="1371600" lvl="2" indent="-457200">
              <a:buAutoNum type="arabicPeriod"/>
            </a:pPr>
            <a:endParaRPr lang="en-US" altLang="zh-TW" sz="2400" b="0" dirty="0"/>
          </a:p>
          <a:p>
            <a:pPr marL="1371600" lvl="2" indent="-457200">
              <a:buAutoNum type="arabicPeriod"/>
            </a:pPr>
            <a:endParaRPr lang="zh-TW" altLang="en-US" sz="2400" dirty="0"/>
          </a:p>
        </p:txBody>
      </p:sp>
    </p:spTree>
    <p:extLst>
      <p:ext uri="{BB962C8B-B14F-4D97-AF65-F5344CB8AC3E}">
        <p14:creationId xmlns:p14="http://schemas.microsoft.com/office/powerpoint/2010/main" val="420225325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31D34C-1841-17E1-6C65-7E2414BBF7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053BC9A-038E-7CDF-9983-072DEABE5146}"/>
              </a:ext>
            </a:extLst>
          </p:cNvPr>
          <p:cNvSpPr txBox="1"/>
          <p:nvPr/>
        </p:nvSpPr>
        <p:spPr>
          <a:xfrm>
            <a:off x="1037771" y="592436"/>
            <a:ext cx="1011645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4800" dirty="0"/>
              <a:t>CO – instruction</a:t>
            </a:r>
            <a:endParaRPr lang="zh-TW" altLang="en-US" sz="4800" dirty="0"/>
          </a:p>
        </p:txBody>
      </p:sp>
      <p:sp>
        <p:nvSpPr>
          <p:cNvPr id="15" name="TextBox 2">
            <a:extLst>
              <a:ext uri="{FF2B5EF4-FFF2-40B4-BE49-F238E27FC236}">
                <a16:creationId xmlns:a16="http://schemas.microsoft.com/office/drawing/2014/main" id="{19CC99A9-D1FB-BB46-FCB2-E878D75AA03C}"/>
              </a:ext>
            </a:extLst>
          </p:cNvPr>
          <p:cNvSpPr txBox="1"/>
          <p:nvPr/>
        </p:nvSpPr>
        <p:spPr>
          <a:xfrm>
            <a:off x="1037771" y="1732561"/>
            <a:ext cx="9238381" cy="41549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AutoNum type="arabicPeriod"/>
            </a:pPr>
            <a:r>
              <a:rPr lang="en-US" altLang="zh-TW" sz="2400" dirty="0"/>
              <a:t>Two’s complement</a:t>
            </a:r>
          </a:p>
          <a:p>
            <a:pPr marL="914400" lvl="1" indent="-457200">
              <a:buAutoNum type="arabicPeriod"/>
            </a:pPr>
            <a:r>
              <a:rPr lang="en-US" altLang="zh-TW" sz="2400" dirty="0"/>
              <a:t>Sign + magnitude</a:t>
            </a:r>
          </a:p>
          <a:p>
            <a:pPr marL="457200" indent="-457200">
              <a:buAutoNum type="arabicPeriod"/>
            </a:pPr>
            <a:r>
              <a:rPr lang="en-US" altLang="zh-TW" sz="2400" dirty="0"/>
              <a:t>Sign extension (ex. 16-bit to 32-bit)</a:t>
            </a:r>
          </a:p>
          <a:p>
            <a:pPr marL="914400" lvl="1" indent="-457200">
              <a:buAutoNum type="arabicPeriod"/>
            </a:pPr>
            <a:r>
              <a:rPr lang="en-US" altLang="zh-TW" sz="2400" dirty="0"/>
              <a:t>Positive(0) -&gt;</a:t>
            </a:r>
            <a:r>
              <a:rPr lang="zh-TW" altLang="en-US" sz="2400" dirty="0"/>
              <a:t>直接前面補 </a:t>
            </a:r>
            <a:r>
              <a:rPr lang="en-US" altLang="zh-TW" sz="2400" dirty="0"/>
              <a:t>0</a:t>
            </a:r>
          </a:p>
          <a:p>
            <a:pPr marL="914400" lvl="1" indent="-457200">
              <a:buAutoNum type="arabicPeriod"/>
            </a:pPr>
            <a:r>
              <a:rPr lang="en-US" altLang="zh-TW" sz="2400" dirty="0"/>
              <a:t>Negative(1) -&gt; </a:t>
            </a:r>
            <a:r>
              <a:rPr lang="zh-TW" altLang="en-US" sz="2400" dirty="0"/>
              <a:t>直接前面補 </a:t>
            </a:r>
            <a:r>
              <a:rPr lang="en-US" altLang="zh-TW" sz="2400" dirty="0"/>
              <a:t>1</a:t>
            </a:r>
          </a:p>
          <a:p>
            <a:pPr marL="457200" indent="-457200">
              <a:buAutoNum type="arabicPeriod"/>
            </a:pPr>
            <a:endParaRPr lang="en-US" altLang="zh-TW" sz="2400" dirty="0"/>
          </a:p>
          <a:p>
            <a:pPr marL="457200" indent="-457200">
              <a:buAutoNum type="arabicPeriod"/>
            </a:pPr>
            <a:endParaRPr lang="en-US" altLang="zh-TW" sz="2400" dirty="0"/>
          </a:p>
          <a:p>
            <a:pPr marL="914400" lvl="1" indent="-457200">
              <a:buAutoNum type="arabicPeriod"/>
            </a:pPr>
            <a:endParaRPr lang="en-US" altLang="zh-TW" sz="2400" dirty="0"/>
          </a:p>
          <a:p>
            <a:pPr marL="1371600" lvl="2" indent="-457200">
              <a:buAutoNum type="arabicPeriod"/>
            </a:pPr>
            <a:endParaRPr lang="en-US" altLang="zh-TW" sz="2400" dirty="0"/>
          </a:p>
          <a:p>
            <a:pPr marL="1371600" lvl="2" indent="-457200">
              <a:buAutoNum type="arabicPeriod"/>
            </a:pPr>
            <a:endParaRPr lang="en-US" altLang="zh-TW" sz="2400" b="0" dirty="0"/>
          </a:p>
          <a:p>
            <a:pPr marL="1371600" lvl="2" indent="-457200">
              <a:buAutoNum type="arabicPeriod"/>
            </a:pPr>
            <a:endParaRPr lang="zh-TW" altLang="en-US" sz="2400" dirty="0"/>
          </a:p>
        </p:txBody>
      </p:sp>
      <p:pic>
        <p:nvPicPr>
          <p:cNvPr id="17" name="圖片 16">
            <a:extLst>
              <a:ext uri="{FF2B5EF4-FFF2-40B4-BE49-F238E27FC236}">
                <a16:creationId xmlns:a16="http://schemas.microsoft.com/office/drawing/2014/main" id="{0D05C07E-0D4D-E963-6CD0-0ADADAF1C0A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93278" y="3781176"/>
            <a:ext cx="5160950" cy="622739"/>
          </a:xfrm>
          <a:prstGeom prst="rect">
            <a:avLst/>
          </a:prstGeom>
        </p:spPr>
      </p:pic>
      <p:pic>
        <p:nvPicPr>
          <p:cNvPr id="5" name="圖片 4">
            <a:extLst>
              <a:ext uri="{FF2B5EF4-FFF2-40B4-BE49-F238E27FC236}">
                <a16:creationId xmlns:a16="http://schemas.microsoft.com/office/drawing/2014/main" id="{7A56B9D5-7600-AF99-D069-B8C12EAC9D4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20851" y="4403915"/>
            <a:ext cx="9828607" cy="740037"/>
          </a:xfrm>
          <a:prstGeom prst="rect">
            <a:avLst/>
          </a:prstGeom>
        </p:spPr>
      </p:pic>
      <p:pic>
        <p:nvPicPr>
          <p:cNvPr id="16" name="圖片 15" descr="一張含有 字型, 行, 印刷術 的圖片&#10;&#10;AI 產生的內容可能不正確。">
            <a:extLst>
              <a:ext uri="{FF2B5EF4-FFF2-40B4-BE49-F238E27FC236}">
                <a16:creationId xmlns:a16="http://schemas.microsoft.com/office/drawing/2014/main" id="{8CC8CFBF-68D6-800B-6FD4-96A9B8DEE53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95999" y="5246967"/>
            <a:ext cx="5106113" cy="876422"/>
          </a:xfrm>
          <a:prstGeom prst="rect">
            <a:avLst/>
          </a:prstGeom>
        </p:spPr>
      </p:pic>
      <p:pic>
        <p:nvPicPr>
          <p:cNvPr id="19" name="圖片 18">
            <a:extLst>
              <a:ext uri="{FF2B5EF4-FFF2-40B4-BE49-F238E27FC236}">
                <a16:creationId xmlns:a16="http://schemas.microsoft.com/office/drawing/2014/main" id="{104A542B-516A-56DB-A174-5FC1BFD3E8F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89888" y="5959110"/>
            <a:ext cx="10998184" cy="8025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2711030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7E6034-2B18-C668-E486-37866966F6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CD6793E-E5C8-307A-2EC5-8AA4910A2E42}"/>
              </a:ext>
            </a:extLst>
          </p:cNvPr>
          <p:cNvSpPr txBox="1"/>
          <p:nvPr/>
        </p:nvSpPr>
        <p:spPr>
          <a:xfrm>
            <a:off x="1037771" y="592436"/>
            <a:ext cx="1011645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4800" dirty="0"/>
              <a:t>CO – to machine code</a:t>
            </a:r>
            <a:endParaRPr lang="zh-TW" altLang="en-US" sz="4800" dirty="0"/>
          </a:p>
        </p:txBody>
      </p:sp>
      <p:sp>
        <p:nvSpPr>
          <p:cNvPr id="15" name="TextBox 2">
            <a:extLst>
              <a:ext uri="{FF2B5EF4-FFF2-40B4-BE49-F238E27FC236}">
                <a16:creationId xmlns:a16="http://schemas.microsoft.com/office/drawing/2014/main" id="{C7563F1F-BE45-CFFB-75A1-5E4261169918}"/>
              </a:ext>
            </a:extLst>
          </p:cNvPr>
          <p:cNvSpPr txBox="1"/>
          <p:nvPr/>
        </p:nvSpPr>
        <p:spPr>
          <a:xfrm>
            <a:off x="1037771" y="1732561"/>
            <a:ext cx="9238381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AutoNum type="arabicPeriod"/>
            </a:pPr>
            <a:r>
              <a:rPr lang="en-US" altLang="zh-TW" sz="2400" dirty="0"/>
              <a:t>dd</a:t>
            </a:r>
          </a:p>
          <a:p>
            <a:pPr marL="457200" indent="-457200">
              <a:buAutoNum type="arabicPeriod"/>
            </a:pPr>
            <a:endParaRPr lang="en-US" altLang="zh-TW" sz="2400" dirty="0"/>
          </a:p>
          <a:p>
            <a:pPr marL="457200" indent="-457200">
              <a:buAutoNum type="arabicPeriod"/>
            </a:pPr>
            <a:endParaRPr lang="en-US" altLang="zh-TW" sz="2400" dirty="0"/>
          </a:p>
          <a:p>
            <a:pPr marL="914400" lvl="1" indent="-457200">
              <a:buAutoNum type="arabicPeriod"/>
            </a:pPr>
            <a:endParaRPr lang="en-US" altLang="zh-TW" sz="2400" dirty="0"/>
          </a:p>
          <a:p>
            <a:pPr marL="1371600" lvl="2" indent="-457200">
              <a:buAutoNum type="arabicPeriod"/>
            </a:pPr>
            <a:endParaRPr lang="en-US" altLang="zh-TW" sz="2400" dirty="0"/>
          </a:p>
          <a:p>
            <a:pPr marL="1371600" lvl="2" indent="-457200">
              <a:buAutoNum type="arabicPeriod"/>
            </a:pPr>
            <a:endParaRPr lang="en-US" altLang="zh-TW" sz="2400" b="0" dirty="0"/>
          </a:p>
          <a:p>
            <a:pPr marL="1371600" lvl="2" indent="-457200">
              <a:buAutoNum type="arabicPeriod"/>
            </a:pPr>
            <a:endParaRPr lang="zh-TW" altLang="en-US" sz="2400" dirty="0"/>
          </a:p>
        </p:txBody>
      </p:sp>
      <p:pic>
        <p:nvPicPr>
          <p:cNvPr id="4" name="圖片 3" descr="一張含有 文字, 螢幕擷取畫面, 字型, 數字 的圖片&#10;&#10;AI 產生的內容可能不正確。">
            <a:extLst>
              <a:ext uri="{FF2B5EF4-FFF2-40B4-BE49-F238E27FC236}">
                <a16:creationId xmlns:a16="http://schemas.microsoft.com/office/drawing/2014/main" id="{327D3099-6E5E-4B7A-C3F7-D6479356E22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9714" y="3034419"/>
            <a:ext cx="6727371" cy="31622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90394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1AE26B-F4B5-1E20-C222-944EA169C3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55AC512-64F0-BA72-58E3-7050F90DACA9}"/>
              </a:ext>
            </a:extLst>
          </p:cNvPr>
          <p:cNvSpPr txBox="1"/>
          <p:nvPr/>
        </p:nvSpPr>
        <p:spPr>
          <a:xfrm>
            <a:off x="1037771" y="592436"/>
            <a:ext cx="1011645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4800" dirty="0"/>
              <a:t>CO – to machine code</a:t>
            </a:r>
            <a:endParaRPr lang="zh-TW" altLang="en-US" sz="4800" dirty="0"/>
          </a:p>
        </p:txBody>
      </p:sp>
      <p:sp>
        <p:nvSpPr>
          <p:cNvPr id="15" name="TextBox 2">
            <a:extLst>
              <a:ext uri="{FF2B5EF4-FFF2-40B4-BE49-F238E27FC236}">
                <a16:creationId xmlns:a16="http://schemas.microsoft.com/office/drawing/2014/main" id="{5111EB88-23A8-6C1D-C663-EF3B1460FA5B}"/>
              </a:ext>
            </a:extLst>
          </p:cNvPr>
          <p:cNvSpPr txBox="1"/>
          <p:nvPr/>
        </p:nvSpPr>
        <p:spPr>
          <a:xfrm>
            <a:off x="1037771" y="1732561"/>
            <a:ext cx="9238381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AutoNum type="arabicPeriod"/>
            </a:pPr>
            <a:r>
              <a:rPr lang="en-US" altLang="zh-TW" sz="2400" dirty="0"/>
              <a:t>R-type (Register)</a:t>
            </a:r>
          </a:p>
          <a:p>
            <a:pPr marL="457200" indent="-457200">
              <a:buAutoNum type="arabicPeriod"/>
            </a:pPr>
            <a:r>
              <a:rPr lang="en-US" altLang="zh-TW" sz="2400" dirty="0"/>
              <a:t>I-type (Immediate)</a:t>
            </a:r>
          </a:p>
          <a:p>
            <a:pPr marL="457200" indent="-457200">
              <a:buAutoNum type="arabicPeriod"/>
            </a:pPr>
            <a:endParaRPr lang="en-US" altLang="zh-TW" sz="2400" dirty="0"/>
          </a:p>
          <a:p>
            <a:pPr marL="457200" indent="-457200">
              <a:buAutoNum type="arabicPeriod"/>
            </a:pPr>
            <a:endParaRPr lang="en-US" altLang="zh-TW" sz="2400" dirty="0"/>
          </a:p>
          <a:p>
            <a:pPr marL="914400" lvl="1" indent="-457200">
              <a:buAutoNum type="arabicPeriod"/>
            </a:pPr>
            <a:endParaRPr lang="en-US" altLang="zh-TW" sz="2400" dirty="0"/>
          </a:p>
          <a:p>
            <a:pPr marL="1371600" lvl="2" indent="-457200">
              <a:buAutoNum type="arabicPeriod"/>
            </a:pPr>
            <a:endParaRPr lang="en-US" altLang="zh-TW" sz="2400" dirty="0"/>
          </a:p>
          <a:p>
            <a:pPr marL="1371600" lvl="2" indent="-457200">
              <a:buAutoNum type="arabicPeriod"/>
            </a:pPr>
            <a:endParaRPr lang="en-US" altLang="zh-TW" sz="2400" b="0" dirty="0"/>
          </a:p>
          <a:p>
            <a:pPr marL="1371600" lvl="2" indent="-457200">
              <a:buAutoNum type="arabicPeriod"/>
            </a:pPr>
            <a:endParaRPr lang="zh-TW" altLang="en-US" sz="2400" dirty="0"/>
          </a:p>
        </p:txBody>
      </p:sp>
      <p:pic>
        <p:nvPicPr>
          <p:cNvPr id="4" name="圖片 3" descr="一張含有 文字, 螢幕擷取畫面, 字型, 數字 的圖片&#10;&#10;AI 產生的內容可能不正確。">
            <a:extLst>
              <a:ext uri="{FF2B5EF4-FFF2-40B4-BE49-F238E27FC236}">
                <a16:creationId xmlns:a16="http://schemas.microsoft.com/office/drawing/2014/main" id="{175AB71E-F004-1665-A273-CEBC9BE44AA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93461" y="3198422"/>
            <a:ext cx="6727371" cy="3162254"/>
          </a:xfrm>
          <a:prstGeom prst="rect">
            <a:avLst/>
          </a:prstGeom>
        </p:spPr>
      </p:pic>
      <p:pic>
        <p:nvPicPr>
          <p:cNvPr id="5" name="圖片 4" descr="一張含有 文字, 字型, 行, 螢幕擷取畫面 的圖片&#10;&#10;AI 產生的內容可能不正確。">
            <a:extLst>
              <a:ext uri="{FF2B5EF4-FFF2-40B4-BE49-F238E27FC236}">
                <a16:creationId xmlns:a16="http://schemas.microsoft.com/office/drawing/2014/main" id="{57326276-4020-216F-F56A-7053A10111E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11166" y="2552663"/>
            <a:ext cx="6843562" cy="8763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350789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佈景主題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佈景主題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佈景主題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2997</TotalTime>
  <Words>470</Words>
  <Application>Microsoft Office PowerPoint</Application>
  <PresentationFormat>寬螢幕</PresentationFormat>
  <Paragraphs>159</Paragraphs>
  <Slides>26</Slides>
  <Notes>3</Notes>
  <HiddenSlides>0</HiddenSlides>
  <MMClips>0</MMClips>
  <ScaleCrop>false</ScaleCrop>
  <HeadingPairs>
    <vt:vector size="6" baseType="variant">
      <vt:variant>
        <vt:lpstr>使用字型</vt:lpstr>
      </vt:variant>
      <vt:variant>
        <vt:i4>4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26</vt:i4>
      </vt:variant>
    </vt:vector>
  </HeadingPairs>
  <TitlesOfParts>
    <vt:vector size="31" baseType="lpstr">
      <vt:lpstr>Aptos</vt:lpstr>
      <vt:lpstr>Aptos Display</vt:lpstr>
      <vt:lpstr>Arial</vt:lpstr>
      <vt:lpstr>Cambria Math</vt:lpstr>
      <vt:lpstr>Office Theme</vt:lpstr>
      <vt:lpstr>考研</vt:lpstr>
      <vt:lpstr>LA</vt:lpstr>
      <vt:lpstr>PowerPoint 簡報</vt:lpstr>
      <vt:lpstr>PowerPoint 簡報</vt:lpstr>
      <vt:lpstr>PowerPoint 簡報</vt:lpstr>
      <vt:lpstr>DM</vt:lpstr>
      <vt:lpstr>PowerPoint 簡報</vt:lpstr>
      <vt:lpstr>PowerPoint 簡報</vt:lpstr>
      <vt:lpstr>PowerPoint 簡報</vt:lpstr>
      <vt:lpstr>AM</vt:lpstr>
      <vt:lpstr>PowerPoint 簡報</vt:lpstr>
      <vt:lpstr>PowerPoint 簡報</vt:lpstr>
      <vt:lpstr>PowerPoint 簡報</vt:lpstr>
      <vt:lpstr>DS</vt:lpstr>
      <vt:lpstr>OS</vt:lpstr>
      <vt:lpstr>CO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崇安 李</dc:creator>
  <cp:lastModifiedBy>崇安 李</cp:lastModifiedBy>
  <cp:revision>11</cp:revision>
  <dcterms:created xsi:type="dcterms:W3CDTF">2026-01-21T09:20:36Z</dcterms:created>
  <dcterms:modified xsi:type="dcterms:W3CDTF">2026-01-30T15:14:53Z</dcterms:modified>
</cp:coreProperties>
</file>