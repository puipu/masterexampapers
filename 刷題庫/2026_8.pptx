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4" r:id="rId3"/>
    <p:sldId id="257" r:id="rId4"/>
    <p:sldId id="261" r:id="rId5"/>
    <p:sldId id="270" r:id="rId6"/>
    <p:sldId id="269" r:id="rId7"/>
    <p:sldId id="265" r:id="rId8"/>
    <p:sldId id="258" r:id="rId9"/>
    <p:sldId id="271" r:id="rId10"/>
    <p:sldId id="272" r:id="rId11"/>
    <p:sldId id="266" r:id="rId12"/>
    <p:sldId id="259" r:id="rId13"/>
    <p:sldId id="267" r:id="rId14"/>
    <p:sldId id="260" r:id="rId15"/>
    <p:sldId id="268" r:id="rId16"/>
    <p:sldId id="262" r:id="rId17"/>
    <p:sldId id="263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6292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22:56.15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32 24575,'749'0'0,"-730"-1"0,-1-1 0,1 0 0,22-7 0,-20 3 0,41-3 0,312 6 0,-193 5 0,339-2 0,-492 2 0,0 1 0,35 7 0,-31-4 0,38 3 0,385-7 0,-234-4 0,974 2 0,-1176 1 0,-1 1 0,1 1 0,21 6 0,-18-4 0,40 5 0,299-8 0,-185-4 0,1198 2-1365,-1349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22:57.3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126 0 24575,'0'1078'0,"-1"-1059"0,-1-1 0,-1 1 0,-6 21 0,4-18 0,-5 40 0,8 259 0,4-165 0,-3-137 0,-1 0 0,-1-1 0,-6 23 0,4-19 0,-5 39 0,9 37 0,2-65 0,-2 0 0,-1 0 0,-7 38 0,-28 91 0,30-123 0,2 0 0,2 1 0,1 0 0,6 56 0,-2-4 0,-2 446 0,2-513 0,0 0 0,12 47 0,-2-15 0,1 3 46,-7-40-516,-2 1-1,3 27 1,-6-23-6356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23:02.8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24575,'0'1'0,"1"1"0,-1-1 0,1 1 0,-1-1 0,1 0 0,-1 1 0,1-1 0,0 0 0,0 1 0,0-1 0,0 0 0,0 0 0,0 0 0,0 0 0,0 0 0,2 1 0,24 18 0,-15-12 0,149 121 0,-22-17 0,-25-19 0,-63-61 0,-13-10 0,87 56 0,-78-57 0,-36-17 0,0 1 0,-1 0 0,12 8 0,20 13 0,-26-17 0,0 1 0,24 21 0,-27-21 0,-1-1 0,1 0 0,1-1 0,0-1 0,25 11 0,-20-10 0,-1 1 0,25 16 0,-13-7 0,42 20 0,0 0 0,41 29 0,-83-51 0,0-2 0,37 14 0,-43-20 0,1 2 0,-2 1 0,1 1 0,36 26 0,-42-26 0,1-1 0,-1 0 0,2-1 0,31 11 0,-34-15 0,1 1 0,-2 1 0,1 0 0,-1 1 0,0 1 0,-1 0 0,14 14 0,-13-11 0,0-1 0,29 18 0,-32-21 0,1-1 0,-1 2 0,-1-1 0,1 2 0,14 16 0,-5-4 0,1 0 0,1-2 0,0-1 0,35 22 0,-26-19 0,-1 1 0,30 30 0,3-1 0,-6 2 0,-31-30 0,14 7 0,6 5 0,128 120 0,-171-153 0,1 1 0,-1-1 0,1-1 0,0 1 0,0-1 0,9 4 0,-8-4 0,-1 0 0,1 0 0,0 1 0,10 9 0,10 8 0,36 22 0,20 16 0,51 43 0,-121-93 0,0-1 0,23 12 0,-26-16 0,-1 0 0,0 2 0,0-1 0,0 1 0,-1 0 0,0 0 0,0 1 0,8 9 0,-7-6 0,1-2 0,0 1 0,0-1 0,1-1 0,0 0 0,0 0 0,0-1 0,1-1 0,21 7 0,-16-5 0,0 0 0,0 2 0,-1-1 0,16 13 0,-19-13 0,0 0 0,0 0 0,18 7 0,-18-10 0,-2 1 0,1 0 0,-1 1 0,1 0 0,10 11 0,1 0 0,0-1 0,1-1 0,35 17 0,-28-16 0,47 34 0,-69-45 0,1 0 0,-1-1 0,1 0 0,14 5 0,-12-5 0,0 0 0,20 13 0,-8-3 0,0-2 0,51 20 0,-58-26 0,83 43 0,-69-36 0,-1 1 0,33 23 0,-14-9 0,-17-9 0,-20-12 0,1 0 0,25 10 0,21 8 0,92 55 0,-109-57 0,77 37 0,19 0 0,23 21 0,-128-64 0,43 15 0,-33-14 0,-14-9 0,-23-8 0,0 0 0,-1 0 0,1 0 0,-1 1 0,1-1 0,-1 1 0,9 7 0,14 11 0,1-1 0,0-2 0,2-1 0,0-1 0,54 18 0,-44-17 0,111 42 0,-142-55-105,1 0 0,-1-1 0,0 0 0,1-1 0,-1 0 0,1 0 0,0-1 0,0-1 0,-1 0 0,1 0 0,0-1 0,14-3 0,-6-3-6721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3.8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64 0 24575,'11'2'0,"-1"0"0,1 1 0,-1 0 0,1 1 0,-1 0 0,0 0 0,-1 1 0,12 7 0,-1-1 0,81 44 0,-71-40 0,-24-12 0,0 0 0,0 0 0,0 0 0,-1 1 0,9 6 0,4 5 0,-13-11 0,-1 0 0,1 0 0,-1 0 0,1 1 0,-1 0 0,0 0 0,-1 0 0,1 0 0,2 6 0,3 8 0,0 0 0,-1 1 0,-1 0 0,-1 0 0,0 0 0,-2 1 0,0-1 0,0 23 0,-5 347 0,-1-368 0,0 0 0,-10 39 0,1-10 0,8-36 0,-2 0 0,0 0 0,-1-1 0,0 1 0,-1-1 0,-1 0 0,-12 16 0,6-8 0,-16 35 0,21-41 0,0-1 0,-1 0 0,0 0 0,-1-1 0,-1-1 0,0 0 0,-1 0 0,-1-1 0,-18 12 0,-25 11 0,46-30 0,0 1 0,0 0 0,1 1 0,0 1 0,0-1 0,-10 11 0,18-15-68,0-1 0,0 1-1,0-1 1,-1 0 0,1 1 0,-1-1-1,0 0 1,1-1 0,-1 1 0,0 0-1,0-1 1,0 0 0,-1 1 0,1-1-1,0-1 1,0 1 0,0 0 0,-1-1-1,-4 1 1,-6-4-6758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4.6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54 1 24575,'-1'22'0,"-1"0"0,-1-1 0,-1 1 0,-1-1 0,-12 32 0,8-22 0,6-21 0,0 1 0,1-1 0,0 1 0,0 0 0,2 0 0,-1 0 0,1 0 0,1 0 0,0-1 0,4 19 0,-3-22 0,0 0 0,1 0 0,0 0 0,0-1 0,1 1 0,-1-1 0,1 0 0,1 0 0,-1 0 0,1 0 0,0-1 0,1 0 0,-1 0 0,1 0 0,0-1 0,10 6 0,59 42 0,-63-42 0,1 0 0,0 0 0,1-2 0,0 1 0,0-2 0,0 0 0,1-1 0,26 8 0,46 8-1365,-69-18-5461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5.6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24575,'4'0'0,"6"0"0,6 0 0,5 0 0,2 0 0,3 0 0,-4 5 0,-1 0 0,0 1 0,2-1 0,0-2 0,2-1 0,0-1 0,-4-1-8191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6.53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24575,'7'0'0,"9"-1"0,0 2 0,1 0 0,27 5 0,-39-4 0,0-1 0,0 1 0,0 0 0,-1 0 0,1 0 0,-1 1 0,1-1 0,-1 1 0,0 0 0,0 1 0,0-1 0,-1 1 0,1-1 0,-1 1 0,0 0 0,4 5 0,0 3 0,0-3 0,-1 0 0,0 1 0,-1 0 0,1 0 0,-2 0 0,0 1 0,0 0 0,-1 0 0,0 0 0,3 22 0,-6-27 0,1 0 0,-1 0 0,0-1 0,0 1 0,0 0 0,-1-1 0,0 1 0,0 0 0,0-1 0,-1 1 0,0-1 0,0 1 0,0-1 0,-1 0 0,0 0 0,0 0 0,0 0 0,0-1 0,-1 1 0,0-1 0,0 0 0,-6 6 0,-142 108 0,151-117 0,0-1 0,0 1 0,-1 0 0,1-1 0,0 1 0,0 0 0,0 0 0,1 0 0,-1-1 0,0 1 0,0 0 0,0 0 0,1 0 0,-1 1 0,0-1 0,1 0 0,-1 0 0,1 0 0,-1 0 0,1 0 0,0 1 0,-1 1 0,2-2 0,-1-1 0,1 1 0,-1 0 0,1 0 0,0 0 0,-1-1 0,1 1 0,0 0 0,-1-1 0,1 1 0,0 0 0,0-1 0,0 1 0,-1-1 0,1 1 0,0-1 0,0 0 0,0 1 0,0-1 0,0 0 0,1 1 0,9 1 0,1 0 0,-1-1 0,17 0 0,204-3-1365,-221 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7.1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184 0 24575,'-1'4'0,"0"0"0,1-1 0,-1 1 0,0-1 0,-1 0 0,1 1 0,0-1 0,-1 0 0,0 0 0,0 0 0,0 0 0,0 0 0,0 0 0,-1-1 0,1 1 0,-4 2 0,-17 23 0,7-3 0,6-9 0,0 1 0,1 0 0,0 0 0,1 1 0,-6 24 0,2 7 0,0-6 0,2 1 0,3 0 0,-5 85 0,12-122 0,0 18 0,0-1 0,2 1 0,8 37 0,-8-55 0,0 0 0,0 0 0,1 0 0,-1 0 0,2 0 0,-1-1 0,1 0 0,0 0 0,0 0 0,1 0 0,0-1 0,0 1 0,0-1 0,1 0 0,-1-1 0,11 7 0,9 4 0,1 0 0,1-2 0,0-1 0,1-2 0,38 11 0,-48-16 45,35 14 1,-40-13-337,1-1-1,0 0 1,0-1 0,16 2 0,-10-4-6535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4T15:44:58.3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111 0 24575,'9'9'0,"-1"1"0,-1 0 0,0 1 0,6 11 0,16 24 0,-20-33 0,-1 1 0,0 1 0,-1-1 0,7 21 0,-1-1 0,-7-18 0,0 1 0,-1 0 0,-1 0 0,-1 1 0,-1-1 0,1 22 0,-3 7 0,-6 54 0,5-89 0,0-1 0,-2 1 0,1-1 0,-1 0 0,-1 0 0,0 0 0,0 0 0,-1-1 0,0 1 0,-1-1 0,0-1 0,0 1 0,-12 11 0,-6 3 0,0-2 0,-2 0 0,-29 17 0,29-20 0,-3 4-1365,16-13-5461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37B91-85F2-44BA-8D11-567A26279197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F8BC8-5A19-4F95-BDA2-F3CE677CD2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6021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我做一頁要 </a:t>
            </a:r>
            <a:r>
              <a:rPr lang="en-US" altLang="zh-TW" dirty="0"/>
              <a:t>45min …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F8BC8-5A19-4F95-BDA2-F3CE677CD29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920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EFF1-7F10-D4F4-F29D-31F993CD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798CE-E5FF-F8CB-A874-452D7FDDB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F3A19-18D2-2446-4C33-78B9C4EA7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我做一頁要 </a:t>
            </a:r>
            <a:r>
              <a:rPr lang="en-US" altLang="zh-TW" dirty="0"/>
              <a:t>45min …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A4519-4A3C-341C-F99D-0C30E956C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F8BC8-5A19-4F95-BDA2-F3CE677CD29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240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EA2BA-FA23-CE77-9D28-EA4C7617A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3D679-CAF3-E99B-C148-5B31FEDCA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621E7-C53C-691B-9D68-9BC5AEA8B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我做一頁要 </a:t>
            </a:r>
            <a:r>
              <a:rPr lang="en-US" altLang="zh-TW" dirty="0"/>
              <a:t>45min …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FB9-0392-3D47-5972-E70D724D6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F8BC8-5A19-4F95-BDA2-F3CE677CD29B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18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5AD83-F4DE-7F85-FF9B-10EFAA73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C3647-BA2C-9ADA-E4B1-F10771FAA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36B4C-35A5-C5DC-31DC-0EE27B150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我做一頁要 </a:t>
            </a:r>
            <a:r>
              <a:rPr lang="en-US" altLang="zh-TW" dirty="0"/>
              <a:t>45min …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A0CC8-B695-8016-A4AA-946560BF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F8BC8-5A19-4F95-BDA2-F3CE677CD29B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42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98D15-4DB1-7AC0-0344-29122C133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18C0F-BF66-3253-012F-5D0281368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5136F-5658-1028-FCB6-4F855B73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01F7F-CB11-B7EE-9727-70C996FA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70BB0-AEA5-D3DB-BC63-8CED634E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732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313D-E124-9D26-9AA3-B1DA2F76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1B39C-D2EB-1B6B-DD6B-0082E44DE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F5A3-B08E-C0B1-7F12-9CE5B8A0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08883-1493-1438-0028-B5BB2601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C57D-144D-FD3A-8ECD-69731AF2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988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00F7-1FED-7DA1-0F42-66DF9810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B5186-0215-57F8-E94A-06D08E8AF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6772F-E304-978A-FB36-7C4008A4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9141F-A9E1-CC57-775C-B419E808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4BAEC-B5F3-1231-51DF-CFF054A7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09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29EE-996B-FCD2-C846-4581727BF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EB746-BF44-1B94-DEBF-B06BB7E06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97AB4-F3D2-4973-826E-E6131CDC3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4B85-8E49-9AE9-2467-9241AE2E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9CF18-CC62-84ED-7388-A2FEFD37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B0551-9E01-68B6-A433-2955E116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50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811E3-029A-1801-D971-689865A2F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2EC88-1E4D-AAAF-00BE-06957502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6BAA6-57BC-E20C-B9A3-AE044E83D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CA0CE-652C-08B7-A7B6-801C06470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C8BD2-040B-B20E-3D6F-4A54BB708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33D915-8DDC-4E5A-9300-A296FD23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7FE24-0EF9-2B93-7ED1-C2A46EC4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80891-D069-9A50-57AF-9061E0CB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96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1FDA-5C1C-E3E6-C48E-E6AEBD1F3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8D07B-11E9-FFC3-A9E8-44AB337DC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7C92D-1D6C-C17A-8D48-3A9AD6463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DBC82-E267-DB60-B9E1-44DB15DBB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26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50673-C5A1-9503-EA2C-0D934E23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AB5DE-5AC8-88BA-5870-0D7230C6C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61BF7-DDF5-750E-F3E9-EE28F8BB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68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2A0B-7211-CC07-CF39-56C0EB12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1C33F-75C4-44E3-ADE7-B99151D11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C96BF-8CDF-3911-5B2B-16A299C6A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F18CD-67C6-02CC-0CAD-44085F72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33B40-DBD2-7996-912B-DC45B7A1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A4E30-D520-C162-6F1F-89B9E512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093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153C1-7CA4-148B-FFD6-5EA8AC6C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CB6242-F16F-8DE7-7D37-4F54C0728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E689B-B16E-02F0-8ED7-F87D363A9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EBA4A-3196-1A7D-22CF-29C14EAB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AFD2C-D441-8E42-E2D5-243E0A87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28616-26BE-37DE-0260-578A030A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3494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D753-33BA-BA64-BB8A-A9F617B9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F6AD5-8B5A-B803-612E-8DF6AD32E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0A8A0-6326-01E3-C93B-D4E53607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55359-A389-4C3B-B5BF-4B2ACD76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710C3-AC02-C00B-90E7-F1AAA624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25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48FF9-AE2E-AC35-D9FB-27C38CEF5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9EC40-0CAB-9492-B2F7-C6195DC3C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7802A-27B6-C34D-1E7E-E0A98B92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CD24B-5892-FACB-1184-B565CC59B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71C95-5374-8C0B-ED4E-59E8B7E2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21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AC481-9CEA-086D-8351-2ED597B18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8E799-0ED9-DB20-22F8-C19175D22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A8D5C-D39D-7669-A9F7-EF3810870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7B306-E6E6-4DD1-8C11-17E64579B164}" type="datetimeFigureOut">
              <a:rPr lang="zh-TW" altLang="en-US" smtClean="0"/>
              <a:t>2026/8/14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C6D30-FADB-43DD-3B4D-3E71A32B1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82FC-43E0-2879-3538-D4366E0FC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981A5-7530-4ED6-9629-4C17503952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147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customXml" Target="../ink/ink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4CC7-6EFC-E623-1FD5-FCF42BC451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2026.8.15</a:t>
            </a:r>
            <a:endParaRPr lang="zh-TW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B50DF-E32C-DD79-3B17-11F5109262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交大</a:t>
            </a:r>
            <a:r>
              <a:rPr lang="en-US" altLang="zh-TW" dirty="0"/>
              <a:t>100</a:t>
            </a:r>
            <a:r>
              <a:rPr lang="zh-TW" altLang="en-US" dirty="0"/>
              <a:t> 數學</a:t>
            </a:r>
            <a:endParaRPr lang="en-US" altLang="zh-TW" dirty="0"/>
          </a:p>
          <a:p>
            <a:r>
              <a:rPr lang="en-US" altLang="zh-TW" dirty="0"/>
              <a:t>LA : ch2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833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B279-FCF7-21A8-582A-045CDC17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3CD89-7083-FAFA-57F4-29545341D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11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D7BAD4-2974-F32E-47F6-9D7592E54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08" y="518760"/>
            <a:ext cx="9731583" cy="59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11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5DF88-D124-55F5-5D07-0FA0443A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1BF257-D479-7D3B-60D0-32D71A0F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DA90FD-5E0A-DF1E-D101-E06D18893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每個 </a:t>
                </a:r>
                <a:r>
                  <a:rPr lang="en-US" altLang="zh-TW" dirty="0"/>
                  <a:t>node</a:t>
                </a:r>
                <a:r>
                  <a:rPr lang="zh-TW" altLang="en-US" dirty="0"/>
                  <a:t> 的</a:t>
                </a:r>
                <a:r>
                  <a:rPr lang="en-US" altLang="zh-TW" dirty="0"/>
                  <a:t> </a:t>
                </a:r>
                <a:r>
                  <a:rPr lang="el-GR" altLang="zh-TW" dirty="0"/>
                  <a:t>Σ</a:t>
                </a:r>
                <a:r>
                  <a:rPr lang="en-US" altLang="zh-TW" dirty="0"/>
                  <a:t> In = </a:t>
                </a:r>
                <a:r>
                  <a:rPr lang="el-GR" altLang="zh-TW" dirty="0"/>
                  <a:t>Σ</a:t>
                </a:r>
                <a:r>
                  <a:rPr lang="en-US" altLang="zh-TW" dirty="0"/>
                  <a:t> out</a:t>
                </a:r>
                <a:r>
                  <a:rPr lang="zh-TW" altLang="en-US" dirty="0"/>
                  <a:t>，可列出 </a:t>
                </a:r>
                <a:r>
                  <a:rPr lang="en-US" altLang="zh-TW" dirty="0"/>
                  <a:t>system of linear equations</a:t>
                </a:r>
              </a:p>
              <a:p>
                <a:pPr lvl="1"/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10+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2=20+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4+10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20+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b="0" dirty="0"/>
                  <a:t>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2=−10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3=20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4=10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4=20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  <a:p>
                <a:r>
                  <a:rPr lang="zh-TW" altLang="en-US" dirty="0"/>
                  <a:t>抽取係數，化成 </a:t>
                </a:r>
                <a:r>
                  <a:rPr lang="en-US" altLang="zh-TW" dirty="0"/>
                  <a:t>augmented matrix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b="0" dirty="0"/>
                  <a:t>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3=10+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DA90FD-5E0A-DF1E-D101-E06D18893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A0F065D5-379E-ED33-D137-5C328C826F95}"/>
              </a:ext>
            </a:extLst>
          </p:cNvPr>
          <p:cNvSpPr/>
          <p:nvPr/>
        </p:nvSpPr>
        <p:spPr>
          <a:xfrm>
            <a:off x="3785421" y="2851354"/>
            <a:ext cx="353962" cy="1278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9F9DED6-AE1D-E0F7-D9C4-15D8C92E1EB2}"/>
              </a:ext>
            </a:extLst>
          </p:cNvPr>
          <p:cNvSpPr/>
          <p:nvPr/>
        </p:nvSpPr>
        <p:spPr>
          <a:xfrm>
            <a:off x="5088196" y="4665406"/>
            <a:ext cx="353962" cy="1278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4F802-F658-A807-8F17-AD0EE8F01845}"/>
              </a:ext>
            </a:extLst>
          </p:cNvPr>
          <p:cNvSpPr txBox="1"/>
          <p:nvPr/>
        </p:nvSpPr>
        <p:spPr>
          <a:xfrm>
            <a:off x="5515897" y="5616524"/>
            <a:ext cx="2853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Reduced row echelon form</a:t>
            </a:r>
            <a:endParaRPr lang="zh-TW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54EAE-F50B-008E-BC91-5364EBCCA7A0}"/>
              </a:ext>
            </a:extLst>
          </p:cNvPr>
          <p:cNvSpPr/>
          <p:nvPr/>
        </p:nvSpPr>
        <p:spPr>
          <a:xfrm>
            <a:off x="5722374" y="5132439"/>
            <a:ext cx="2389239" cy="349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E6CDD9B-1BBC-2CF1-A7E4-585A128BA52D}"/>
              </a:ext>
            </a:extLst>
          </p:cNvPr>
          <p:cNvSpPr/>
          <p:nvPr/>
        </p:nvSpPr>
        <p:spPr>
          <a:xfrm>
            <a:off x="8413490" y="4660593"/>
            <a:ext cx="353962" cy="1278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EA3F4A-E925-E656-D848-12F1DBC3DBD4}"/>
              </a:ext>
            </a:extLst>
          </p:cNvPr>
          <p:cNvSpPr/>
          <p:nvPr/>
        </p:nvSpPr>
        <p:spPr>
          <a:xfrm>
            <a:off x="9063115" y="4434348"/>
            <a:ext cx="1693375" cy="3268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E11158-242F-A36F-C14B-778F42979F19}"/>
                  </a:ext>
                </a:extLst>
              </p:cNvPr>
              <p:cNvSpPr txBox="1"/>
              <p:nvPr/>
            </p:nvSpPr>
            <p:spPr>
              <a:xfrm>
                <a:off x="10907674" y="4413118"/>
                <a:ext cx="12843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accent1"/>
                    </a:solidFill>
                  </a:rPr>
                  <a:t>(D)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dirty="0">
                    <a:solidFill>
                      <a:schemeClr val="accent1"/>
                    </a:solidFill>
                  </a:rPr>
                  <a:t> </a:t>
                </a:r>
                <a:r>
                  <a:rPr lang="zh-TW" altLang="en-US" dirty="0">
                    <a:solidFill>
                      <a:schemeClr val="accent1"/>
                    </a:solidFill>
                  </a:rPr>
                  <a:t>最大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E11158-242F-A36F-C14B-778F42979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7674" y="4413118"/>
                <a:ext cx="1284326" cy="369332"/>
              </a:xfrm>
              <a:prstGeom prst="rect">
                <a:avLst/>
              </a:prstGeom>
              <a:blipFill>
                <a:blip r:embed="rId4"/>
                <a:stretch>
                  <a:fillRect l="-3791" t="-9836" r="-3791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B82DC49-0230-F21C-9074-1293ABE47679}"/>
              </a:ext>
            </a:extLst>
          </p:cNvPr>
          <p:cNvSpPr txBox="1"/>
          <p:nvPr/>
        </p:nvSpPr>
        <p:spPr>
          <a:xfrm>
            <a:off x="8936878" y="5601159"/>
            <a:ext cx="3255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(C) </a:t>
            </a:r>
            <a:r>
              <a:rPr lang="zh-TW" altLang="en-US" dirty="0">
                <a:solidFill>
                  <a:schemeClr val="accent1"/>
                </a:solidFill>
              </a:rPr>
              <a:t>有解</a:t>
            </a:r>
            <a:r>
              <a:rPr lang="en-US" altLang="zh-TW" dirty="0">
                <a:solidFill>
                  <a:schemeClr val="accent1"/>
                </a:solidFill>
              </a:rPr>
              <a:t>(consistent) : </a:t>
            </a:r>
            <a:r>
              <a:rPr lang="zh-TW" altLang="en-US" dirty="0">
                <a:solidFill>
                  <a:schemeClr val="accent1"/>
                </a:solidFill>
              </a:rPr>
              <a:t>無限多解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D296BA1-568F-593D-A5A5-3F2682022377}"/>
              </a:ext>
            </a:extLst>
          </p:cNvPr>
          <p:cNvGrpSpPr/>
          <p:nvPr/>
        </p:nvGrpSpPr>
        <p:grpSpPr>
          <a:xfrm>
            <a:off x="5387809" y="4103825"/>
            <a:ext cx="2248920" cy="1378800"/>
            <a:chOff x="1817958" y="4130068"/>
            <a:chExt cx="2248920" cy="13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0BBED9-3102-70FA-489E-F1D8032738C5}"/>
                    </a:ext>
                  </a:extLst>
                </p14:cNvPr>
                <p14:cNvContentPartPr/>
                <p14:nvPr/>
              </p14:nvContentPartPr>
              <p14:xfrm>
                <a:off x="1817958" y="4130068"/>
                <a:ext cx="2236680" cy="23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0BBED9-3102-70FA-489E-F1D8032738C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11838" y="4123948"/>
                  <a:ext cx="2248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AC72F9F-FD99-7CF1-8355-F648C382BA04}"/>
                    </a:ext>
                  </a:extLst>
                </p14:cNvPr>
                <p14:cNvContentPartPr/>
                <p14:nvPr/>
              </p14:nvContentPartPr>
              <p14:xfrm>
                <a:off x="4021158" y="4141588"/>
                <a:ext cx="45720" cy="1289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AC72F9F-FD99-7CF1-8355-F648C382BA0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5038" y="4135468"/>
                  <a:ext cx="57960" cy="13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075F3E-E0EF-7C0B-F871-59AAD1E1DBF6}"/>
                    </a:ext>
                  </a:extLst>
                </p14:cNvPr>
                <p14:cNvContentPartPr/>
                <p14:nvPr/>
              </p14:nvContentPartPr>
              <p14:xfrm>
                <a:off x="1839558" y="4195228"/>
                <a:ext cx="2188800" cy="1313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075F3E-E0EF-7C0B-F871-59AAD1E1DB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33078" y="4189108"/>
                  <a:ext cx="2201040" cy="1325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66780B3-6FB8-1894-C970-C9052F4F902C}"/>
              </a:ext>
            </a:extLst>
          </p:cNvPr>
          <p:cNvSpPr txBox="1"/>
          <p:nvPr/>
        </p:nvSpPr>
        <p:spPr>
          <a:xfrm>
            <a:off x="5088196" y="5998987"/>
            <a:ext cx="37147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UcParenBoth"/>
            </a:pPr>
            <a:r>
              <a:rPr lang="zh-TW" altLang="en-US" dirty="0">
                <a:solidFill>
                  <a:schemeClr val="accent1"/>
                </a:solidFill>
              </a:rPr>
              <a:t>不可化成 </a:t>
            </a:r>
            <a:r>
              <a:rPr lang="en-US" altLang="zh-TW" dirty="0">
                <a:solidFill>
                  <a:schemeClr val="accent1"/>
                </a:solidFill>
              </a:rPr>
              <a:t>Strictly triangular form</a:t>
            </a:r>
          </a:p>
          <a:p>
            <a:r>
              <a:rPr lang="zh-TW" altLang="en-US" dirty="0">
                <a:solidFill>
                  <a:schemeClr val="accent1"/>
                </a:solidFill>
              </a:rPr>
              <a:t>       </a:t>
            </a:r>
            <a:r>
              <a:rPr lang="en-US" altLang="zh-TW" dirty="0">
                <a:solidFill>
                  <a:schemeClr val="accent1"/>
                </a:solidFill>
              </a:rPr>
              <a:t>(rank(A) = 3 &lt; 4 = rank(</a:t>
            </a:r>
            <a:r>
              <a:rPr lang="en-US" altLang="zh-TW" dirty="0" err="1">
                <a:solidFill>
                  <a:schemeClr val="accent1"/>
                </a:solidFill>
              </a:rPr>
              <a:t>A|b</a:t>
            </a:r>
            <a:r>
              <a:rPr lang="en-US" altLang="zh-TW" dirty="0">
                <a:solidFill>
                  <a:schemeClr val="accent1"/>
                </a:solidFill>
              </a:rPr>
              <a:t>) )</a:t>
            </a:r>
            <a:endParaRPr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72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5A53D-A652-80AA-D716-01B09584D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D0843B-BC4E-52D7-DB0C-092C7639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750D38-CAB2-249D-5291-D8A22ED60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(E) reversed in/out</a:t>
            </a:r>
            <a:r>
              <a:rPr lang="zh-TW" altLang="en-US" dirty="0"/>
              <a:t>，會列出一樣的 </a:t>
            </a:r>
            <a:r>
              <a:rPr lang="en-US" altLang="zh-TW" dirty="0"/>
              <a:t>system of linear equation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8662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A5CF-C37F-85D8-D1AB-D1FC8394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14F784-00E1-7D37-40F2-72937700D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7" y="776748"/>
            <a:ext cx="4402393" cy="916833"/>
          </a:xfrm>
        </p:spPr>
        <p:txBody>
          <a:bodyPr>
            <a:normAutofit/>
          </a:bodyPr>
          <a:lstStyle/>
          <a:p>
            <a:r>
              <a:rPr lang="en-US" altLang="zh-TW" dirty="0"/>
              <a:t>Row Echelon form</a:t>
            </a:r>
            <a:endParaRPr lang="zh-TW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1A838F-C07E-50E4-4F3C-0F5CB1648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B734EFB-B6B4-BCEA-EEB4-0D7BBAF9A646}"/>
              </a:ext>
            </a:extLst>
          </p:cNvPr>
          <p:cNvSpPr txBox="1">
            <a:spLocks/>
          </p:cNvSpPr>
          <p:nvPr/>
        </p:nvSpPr>
        <p:spPr>
          <a:xfrm>
            <a:off x="5844049" y="681037"/>
            <a:ext cx="5787513" cy="119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Reduced Row Echelon form/Gauss-Jordan form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3774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1EAF4-1EB6-8753-35A8-6F30E0E8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8E4B-183A-8E9F-A211-7EFB9C02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2EFA-DB62-C544-4690-E195886D2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4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E51172-A409-C5C8-9EEE-3C3543BD5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863" y="2064902"/>
            <a:ext cx="9396274" cy="27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14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505D2-A8B1-4A82-BA7B-78A4EE6B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085BE8-F0DF-A690-9437-0938EDB2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FF5B286-B5A1-3C4B-E19F-FB3F6C1989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(A) (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3x2</a:t>
                </a:r>
                <a:r>
                  <a:rPr lang="en-US" altLang="zh-TW" dirty="0"/>
                  <a:t>)(2x1) = (3x1)</a:t>
                </a:r>
              </a:p>
              <a:p>
                <a:pPr lvl="1"/>
                <a:r>
                  <a:rPr lang="en-US" altLang="zh-TW" dirty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存在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(B) 3 equations, 2 unknown -&gt; </a:t>
                </a:r>
                <a:r>
                  <a:rPr lang="zh-TW" altLang="en-US" dirty="0"/>
                  <a:t>有可是會 </a:t>
                </a:r>
                <a:r>
                  <a:rPr lang="en-US" altLang="zh-TW" dirty="0"/>
                  <a:t>consistent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(C) non-singular = </a:t>
                </a:r>
                <a:r>
                  <a:rPr lang="zh-TW" altLang="en-US" dirty="0"/>
                  <a:t>可寫成 </a:t>
                </a:r>
                <a:r>
                  <a:rPr lang="en-US" altLang="zh-TW" dirty="0"/>
                  <a:t>elementary matrix </a:t>
                </a:r>
                <a:r>
                  <a:rPr lang="zh-TW" altLang="en-US" dirty="0"/>
                  <a:t>的乘積，所以</a:t>
                </a:r>
                <a:r>
                  <a:rPr lang="en-US" altLang="zh-TW" dirty="0"/>
                  <a:t>A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皆可寫成 </a:t>
                </a:r>
                <a:r>
                  <a:rPr lang="en-US" altLang="zh-TW" dirty="0"/>
                  <a:t>elementary matrix </a:t>
                </a:r>
                <a:r>
                  <a:rPr lang="zh-TW" altLang="en-US" dirty="0"/>
                  <a:t>的乘積，</a:t>
                </a:r>
                <a:r>
                  <a:rPr lang="en-US" altLang="zh-TW" dirty="0"/>
                  <a:t>AB </a:t>
                </a:r>
                <a:r>
                  <a:rPr lang="zh-TW" altLang="en-US" dirty="0"/>
                  <a:t>也可以，所以 </a:t>
                </a:r>
                <a:r>
                  <a:rPr lang="en-US" altLang="zh-TW" dirty="0"/>
                  <a:t>AB</a:t>
                </a:r>
                <a:r>
                  <a:rPr lang="zh-TW" altLang="en-US" dirty="0"/>
                  <a:t> 為 </a:t>
                </a:r>
                <a:r>
                  <a:rPr lang="en-US" altLang="zh-TW" dirty="0"/>
                  <a:t>non-singular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FF5B286-B5A1-3C4B-E19F-FB3F6C1989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 r="-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4B93055-CF91-88C8-0D0A-AFE8A01B9134}"/>
              </a:ext>
            </a:extLst>
          </p:cNvPr>
          <p:cNvSpPr/>
          <p:nvPr/>
        </p:nvSpPr>
        <p:spPr>
          <a:xfrm>
            <a:off x="1738202" y="4413982"/>
            <a:ext cx="1088973" cy="349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DA6CC0-1C36-47A7-D6BA-06964847A67F}"/>
              </a:ext>
            </a:extLst>
          </p:cNvPr>
          <p:cNvGrpSpPr/>
          <p:nvPr/>
        </p:nvGrpSpPr>
        <p:grpSpPr>
          <a:xfrm>
            <a:off x="2929048" y="4161350"/>
            <a:ext cx="824040" cy="623880"/>
            <a:chOff x="2929048" y="4161350"/>
            <a:chExt cx="82404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FBB9E46-C562-221B-B4CA-BD087EA9D6CB}"/>
                    </a:ext>
                  </a:extLst>
                </p14:cNvPr>
                <p14:cNvContentPartPr/>
                <p14:nvPr/>
              </p14:nvContentPartPr>
              <p14:xfrm>
                <a:off x="2934808" y="4161350"/>
                <a:ext cx="172800" cy="520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FBB9E46-C562-221B-B4CA-BD087EA9D6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28688" y="4155230"/>
                  <a:ext cx="185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A81017F-A2EB-06DF-313C-841EC4845193}"/>
                    </a:ext>
                  </a:extLst>
                </p14:cNvPr>
                <p14:cNvContentPartPr/>
                <p14:nvPr/>
              </p14:nvContentPartPr>
              <p14:xfrm>
                <a:off x="2929048" y="4571750"/>
                <a:ext cx="151200" cy="213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A81017F-A2EB-06DF-313C-841EC48451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22928" y="4565630"/>
                  <a:ext cx="163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12A2275-17FB-6B69-6EAD-BAAABED60857}"/>
                    </a:ext>
                  </a:extLst>
                </p14:cNvPr>
                <p14:cNvContentPartPr/>
                <p14:nvPr/>
              </p14:nvContentPartPr>
              <p14:xfrm>
                <a:off x="3330808" y="4515950"/>
                <a:ext cx="101520" cy="10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12A2275-17FB-6B69-6EAD-BAAABED608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24688" y="4509830"/>
                  <a:ext cx="113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5CC2A13-72BC-DF4D-9A62-62C6664FA392}"/>
                    </a:ext>
                  </a:extLst>
                </p14:cNvPr>
                <p14:cNvContentPartPr/>
                <p14:nvPr/>
              </p14:nvContentPartPr>
              <p14:xfrm>
                <a:off x="3526648" y="4441070"/>
                <a:ext cx="122760" cy="178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5CC2A13-72BC-DF4D-9A62-62C6664FA3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20528" y="4434950"/>
                  <a:ext cx="1350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07FEA1D-FBF5-BF34-21DD-7C0DE825E64C}"/>
                    </a:ext>
                  </a:extLst>
                </p14:cNvPr>
                <p14:cNvContentPartPr/>
                <p14:nvPr/>
              </p14:nvContentPartPr>
              <p14:xfrm>
                <a:off x="3264928" y="4366550"/>
                <a:ext cx="167400" cy="336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07FEA1D-FBF5-BF34-21DD-7C0DE825E6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58808" y="4360430"/>
                  <a:ext cx="1796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76B2BF1-F40C-98DE-9A5A-21ED5CB78080}"/>
                    </a:ext>
                  </a:extLst>
                </p14:cNvPr>
                <p14:cNvContentPartPr/>
                <p14:nvPr/>
              </p14:nvContentPartPr>
              <p14:xfrm>
                <a:off x="3654808" y="4422710"/>
                <a:ext cx="98280" cy="295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76B2BF1-F40C-98DE-9A5A-21ED5CB7808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48688" y="4416230"/>
                  <a:ext cx="110520" cy="30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25772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0FB6-88A5-6C23-3866-EFE83DFCD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7C948-C49F-5D1D-F345-086FBB2D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B4D906F-D3DA-F059-7ADC-719F32C99E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(D) A + B </a:t>
                </a:r>
                <a:r>
                  <a:rPr lang="zh-TW" altLang="en-US" dirty="0"/>
                  <a:t>就不一定會 </a:t>
                </a:r>
                <a:r>
                  <a:rPr lang="en-US" altLang="zh-TW" dirty="0"/>
                  <a:t>nonsingular</a:t>
                </a:r>
              </a:p>
              <a:p>
                <a:pPr lvl="1"/>
                <a:r>
                  <a:rPr lang="en-US" altLang="zh-TW" dirty="0" err="1"/>
                  <a:t>e.q</a:t>
                </a:r>
                <a:r>
                  <a:rPr lang="en-US" altLang="zh-TW" dirty="0"/>
                  <a:t>.  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, 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, A+B=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(E) </a:t>
                </a:r>
                <a:r>
                  <a:rPr lang="zh-TW" altLang="en-US" dirty="0"/>
                  <a:t>一個小技巧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TW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:pPr lvl="1"/>
                <a:r>
                  <a:rPr lang="zh-TW" altLang="en-US" dirty="0"/>
                  <a:t>因為 </a:t>
                </a:r>
                <a:r>
                  <a:rPr lang="en-US" altLang="zh-TW" dirty="0"/>
                  <a:t>(A+B)</a:t>
                </a:r>
                <a:r>
                  <a:rPr lang="zh-TW" altLang="en-US" dirty="0"/>
                  <a:t> 可逆，並且 </a:t>
                </a:r>
                <a:r>
                  <a:rPr lang="en-US" altLang="zh-TW" dirty="0"/>
                  <a:t>A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 可逆，可逆矩陣相乘依然可逆</a:t>
                </a:r>
                <a:endParaRPr lang="en-US" altLang="zh-TW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B4D906F-D3DA-F059-7ADC-719F32C99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415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4A588-D42B-372C-4E8F-DCD6665D5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F163-BAD7-25BA-30E4-05341787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E051C-F626-2172-0164-0CDE20C7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969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0857-604B-FDFE-2BAA-B7E57ABF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DD302-EE2C-FA70-7A44-3B5EC14F5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18" y="768616"/>
            <a:ext cx="9502964" cy="3314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98FB8F-8651-1625-4083-A66AD9020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518" y="4218796"/>
            <a:ext cx="9502964" cy="145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88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B3D9-643D-260F-8D26-904C03B38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E597C-CA44-5EB5-8DEC-0256E8ED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A7DE-2031-A681-E61B-49D1B2F7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0624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A199D-AF6B-01D1-E4ED-CF7DA0D25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2435F-7481-03F3-C9DD-947BB299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655" y="2183022"/>
            <a:ext cx="9106689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93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705E-6594-9363-079B-B1B4C8D3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17BF34-8964-B284-3391-6CA830E8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24BB52-745A-C973-BB37-FBE6F4FF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Ch1: system of linear equations</a:t>
            </a:r>
          </a:p>
          <a:p>
            <a:r>
              <a:rPr lang="en-US" altLang="zh-TW" dirty="0"/>
              <a:t>CH2: determinant</a:t>
            </a:r>
          </a:p>
          <a:p>
            <a:pPr lvl="1"/>
            <a:r>
              <a:rPr lang="zh-TW" altLang="en-US" dirty="0"/>
              <a:t>性質</a:t>
            </a:r>
            <a:endParaRPr lang="en-US" altLang="zh-TW" dirty="0"/>
          </a:p>
          <a:p>
            <a:pPr lvl="1"/>
            <a:r>
              <a:rPr lang="zh-TW" altLang="en-US" dirty="0"/>
              <a:t>應用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adjoint matrix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6978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DC8E2-461D-780C-9B54-B7AA7C771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933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76BC4-5651-611F-7D57-0D00E90C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1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316</Words>
  <Application>Microsoft Office PowerPoint</Application>
  <PresentationFormat>Widescreen</PresentationFormat>
  <Paragraphs>40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2026.8.15</vt:lpstr>
      <vt:lpstr>1</vt:lpstr>
      <vt:lpstr>PowerPoint Presentation</vt:lpstr>
      <vt:lpstr>PowerPoint Presentation</vt:lpstr>
      <vt:lpstr>PowerPoint Presentation</vt:lpstr>
      <vt:lpstr>Row Echelon form</vt:lpstr>
      <vt:lpstr>2</vt:lpstr>
      <vt:lpstr>PowerPoint Presentation</vt:lpstr>
      <vt:lpstr>PowerPoint Presentation</vt:lpstr>
      <vt:lpstr>PowerPoint Presentation</vt:lpstr>
      <vt:lpstr>3</vt:lpstr>
      <vt:lpstr>PowerPoint Presentation</vt:lpstr>
      <vt:lpstr>4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崇安 李</dc:creator>
  <cp:lastModifiedBy>崇安 李</cp:lastModifiedBy>
  <cp:revision>9</cp:revision>
  <dcterms:created xsi:type="dcterms:W3CDTF">2026-08-14T14:35:36Z</dcterms:created>
  <dcterms:modified xsi:type="dcterms:W3CDTF">2026-08-14T15:57:31Z</dcterms:modified>
</cp:coreProperties>
</file>